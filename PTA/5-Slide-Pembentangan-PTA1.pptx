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051560"/>
            <a:ext cx="10515600" cy="457200"/>
          </a:xfrm>
          <a:prstGeom prst="rect">
            <a:avLst/>
          </a:prstGeom>
          <a:noFill/>
        </p:spPr>
        <p:txBody>
          <a:bodyPr wrap="square">
            <a:spAutoFit/>
          </a:bodyPr>
          <a:lstStyle/>
          <a:p>
            <a:pPr algn="ctr"/>
            <a:r>
              <a:rPr sz="2000" b="1">
                <a:solidFill>
                  <a:srgbClr val="C99700"/>
                </a:solidFill>
                <a:latin typeface="Calibri"/>
              </a:rPr>
              <a:t>PROJEK TAHUN AKHIR (PTA)</a:t>
            </a:r>
          </a:p>
        </p:txBody>
      </p:sp>
      <p:sp>
        <p:nvSpPr>
          <p:cNvPr id="3" name="TextBox 2"/>
          <p:cNvSpPr txBox="1"/>
          <p:nvPr/>
        </p:nvSpPr>
        <p:spPr>
          <a:xfrm>
            <a:off x="640080" y="1645920"/>
            <a:ext cx="10881360" cy="822960"/>
          </a:xfrm>
          <a:prstGeom prst="rect">
            <a:avLst/>
          </a:prstGeom>
          <a:noFill/>
        </p:spPr>
        <p:txBody>
          <a:bodyPr wrap="square">
            <a:spAutoFit/>
          </a:bodyPr>
          <a:lstStyle/>
          <a:p>
            <a:pPr algn="ctr"/>
            <a:r>
              <a:rPr sz="4000" b="1">
                <a:solidFill>
                  <a:srgbClr val="1F3A5F"/>
                </a:solidFill>
                <a:latin typeface="Calibri"/>
              </a:rPr>
              <a:t>AUTOMOTIVE AUTOMATIC HEADLAMP</a:t>
            </a:r>
          </a:p>
        </p:txBody>
      </p:sp>
      <p:sp>
        <p:nvSpPr>
          <p:cNvPr id="4" name="TextBox 3"/>
          <p:cNvSpPr txBox="1"/>
          <p:nvPr/>
        </p:nvSpPr>
        <p:spPr>
          <a:xfrm>
            <a:off x="640080" y="2514600"/>
            <a:ext cx="10881360" cy="822960"/>
          </a:xfrm>
          <a:prstGeom prst="rect">
            <a:avLst/>
          </a:prstGeom>
          <a:noFill/>
        </p:spPr>
        <p:txBody>
          <a:bodyPr wrap="square">
            <a:spAutoFit/>
          </a:bodyPr>
          <a:lstStyle/>
          <a:p>
            <a:pPr algn="ctr"/>
            <a:r>
              <a:rPr sz="4000" b="1">
                <a:solidFill>
                  <a:srgbClr val="1F3A5F"/>
                </a:solidFill>
                <a:latin typeface="Calibri"/>
              </a:rPr>
              <a:t>SYSTEM &amp; WIPER</a:t>
            </a:r>
          </a:p>
        </p:txBody>
      </p:sp>
      <p:sp>
        <p:nvSpPr>
          <p:cNvPr id="5" name="Rectangle 4"/>
          <p:cNvSpPr/>
          <p:nvPr/>
        </p:nvSpPr>
        <p:spPr>
          <a:xfrm>
            <a:off x="4480560" y="3429000"/>
            <a:ext cx="3200400" cy="54864"/>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794760"/>
            <a:ext cx="9418320" cy="2377440"/>
          </a:xfrm>
          <a:prstGeom prst="rect">
            <a:avLst/>
          </a:prstGeom>
          <a:noFill/>
        </p:spPr>
        <p:txBody>
          <a:bodyPr wrap="square">
            <a:spAutoFit/>
          </a:bodyPr>
          <a:lstStyle/>
          <a:p>
            <a:pPr algn="ctr">
              <a:spcAft>
                <a:spcPts val="1000"/>
              </a:spcAft>
            </a:pPr>
            <a:r>
              <a:rPr sz="2000" b="0">
                <a:solidFill>
                  <a:srgbClr val="1F3A5F"/>
                </a:solidFill>
                <a:latin typeface="Calibri"/>
              </a:rPr>
              <a:t>Nama:  ZAHIRUDDIN BIN ZAINALABIDIN</a:t>
            </a:r>
          </a:p>
          <a:p>
            <a:pPr algn="ctr">
              <a:spcAft>
                <a:spcPts val="1000"/>
              </a:spcAft>
            </a:pPr>
            <a:r>
              <a:rPr sz="2000" b="0">
                <a:solidFill>
                  <a:srgbClr val="1F3A5F"/>
                </a:solidFill>
                <a:latin typeface="Calibri"/>
              </a:rPr>
              <a:t>Program:  DTAS34 Diploma Teknologi Automotif</a:t>
            </a:r>
          </a:p>
          <a:p>
            <a:pPr algn="ctr">
              <a:spcAft>
                <a:spcPts val="1000"/>
              </a:spcAft>
            </a:pPr>
            <a:r>
              <a:rPr sz="2000" b="0">
                <a:solidFill>
                  <a:srgbClr val="1F3A5F"/>
                </a:solidFill>
                <a:latin typeface="Calibri"/>
              </a:rPr>
              <a:t>Pensyarah/Pengajar:  EN. MOHD SABRI BIN MOHD NOR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PENGENALAN PROJEK</a:t>
            </a:r>
          </a:p>
        </p:txBody>
      </p:sp>
      <p:sp>
        <p:nvSpPr>
          <p:cNvPr id="3" name="TextBox 2"/>
          <p:cNvSpPr txBox="1"/>
          <p:nvPr/>
        </p:nvSpPr>
        <p:spPr>
          <a:xfrm>
            <a:off x="1097280" y="1554480"/>
            <a:ext cx="9966960" cy="4572000"/>
          </a:xfrm>
          <a:prstGeom prst="rect">
            <a:avLst/>
          </a:prstGeom>
          <a:noFill/>
        </p:spPr>
        <p:txBody>
          <a:bodyPr wrap="square">
            <a:spAutoFit/>
          </a:bodyPr>
          <a:lstStyle/>
          <a:p>
            <a:pPr>
              <a:spcAft>
                <a:spcPts val="2000"/>
              </a:spcAft>
            </a:pPr>
            <a:r>
              <a:rPr sz="2200" b="0">
                <a:solidFill>
                  <a:srgbClr val="1F3A5F"/>
                </a:solidFill>
                <a:latin typeface="Calibri"/>
              </a:rPr>
              <a:t>•  Sistem automotif yang menggabungkan headlamp automatik dan wiper automatik.</a:t>
            </a:r>
          </a:p>
          <a:p>
            <a:pPr>
              <a:spcAft>
                <a:spcPts val="2000"/>
              </a:spcAft>
            </a:pPr>
            <a:r>
              <a:rPr sz="2200" b="0">
                <a:solidFill>
                  <a:srgbClr val="1F3A5F"/>
                </a:solidFill>
                <a:latin typeface="Calibri"/>
              </a:rPr>
              <a:t>•  Menggunakan Arduino sebagai pengawal utama.</a:t>
            </a:r>
          </a:p>
          <a:p>
            <a:pPr>
              <a:spcAft>
                <a:spcPts val="2000"/>
              </a:spcAft>
            </a:pPr>
            <a:r>
              <a:rPr sz="2200" b="0">
                <a:solidFill>
                  <a:srgbClr val="1F3A5F"/>
                </a:solidFill>
                <a:latin typeface="Calibri"/>
              </a:rPr>
              <a:t>•  Sensor digunakan untuk mengesan keadaan persekitaran.</a:t>
            </a:r>
          </a:p>
          <a:p>
            <a:pPr>
              <a:spcAft>
                <a:spcPts val="2000"/>
              </a:spcAft>
            </a:pPr>
            <a:r>
              <a:rPr sz="2200" b="0">
                <a:solidFill>
                  <a:srgbClr val="1F3A5F"/>
                </a:solidFill>
                <a:latin typeface="Calibri"/>
              </a:rPr>
              <a:t>•  Sistem bertujuan meningkatkan keselamatan, keselesaan dan kecekapan pemanduan.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PERNYATAAN MASALAH</a:t>
            </a:r>
          </a:p>
        </p:txBody>
      </p:sp>
      <p:sp>
        <p:nvSpPr>
          <p:cNvPr id="3" name="TextBox 2"/>
          <p:cNvSpPr txBox="1"/>
          <p:nvPr/>
        </p:nvSpPr>
        <p:spPr>
          <a:xfrm>
            <a:off x="1097280" y="1554480"/>
            <a:ext cx="9966960" cy="4572000"/>
          </a:xfrm>
          <a:prstGeom prst="rect">
            <a:avLst/>
          </a:prstGeom>
          <a:noFill/>
        </p:spPr>
        <p:txBody>
          <a:bodyPr wrap="square">
            <a:spAutoFit/>
          </a:bodyPr>
          <a:lstStyle/>
          <a:p>
            <a:pPr>
              <a:spcAft>
                <a:spcPts val="2000"/>
              </a:spcAft>
            </a:pPr>
            <a:r>
              <a:rPr sz="2200" b="0">
                <a:solidFill>
                  <a:srgbClr val="1F3A5F"/>
                </a:solidFill>
                <a:latin typeface="Calibri"/>
              </a:rPr>
              <a:t>•  Pemandu perlu mengawal lampu secara manual.</a:t>
            </a:r>
          </a:p>
          <a:p>
            <a:pPr>
              <a:spcAft>
                <a:spcPts val="2000"/>
              </a:spcAft>
            </a:pPr>
            <a:r>
              <a:rPr sz="2200" b="0">
                <a:solidFill>
                  <a:srgbClr val="1F3A5F"/>
                </a:solidFill>
                <a:latin typeface="Calibri"/>
              </a:rPr>
              <a:t>•  Pemandu mungkin terlupa menyalakan lampu apabila keadaan gelap.</a:t>
            </a:r>
          </a:p>
          <a:p>
            <a:pPr>
              <a:spcAft>
                <a:spcPts val="2000"/>
              </a:spcAft>
            </a:pPr>
            <a:r>
              <a:rPr sz="2200" b="0">
                <a:solidFill>
                  <a:srgbClr val="1F3A5F"/>
                </a:solidFill>
                <a:latin typeface="Calibri"/>
              </a:rPr>
              <a:t>•  Penggunaan wiper secara manual kurang praktikal apabila keadaan hujan berubah.</a:t>
            </a:r>
          </a:p>
          <a:p>
            <a:pPr>
              <a:spcAft>
                <a:spcPts val="2000"/>
              </a:spcAft>
            </a:pPr>
            <a:r>
              <a:rPr sz="2200" b="0">
                <a:solidFill>
                  <a:srgbClr val="1F3A5F"/>
                </a:solidFill>
                <a:latin typeface="Calibri"/>
              </a:rPr>
              <a:t>•  Sistem automatik dapat mengurangkan kebergantungan kepada kawalan manual.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OBJEKTIF PROJEK</a:t>
            </a:r>
          </a:p>
        </p:txBody>
      </p:sp>
      <p:sp>
        <p:nvSpPr>
          <p:cNvPr id="3" name="TextBox 2"/>
          <p:cNvSpPr txBox="1"/>
          <p:nvPr/>
        </p:nvSpPr>
        <p:spPr>
          <a:xfrm>
            <a:off x="1097280" y="1554480"/>
            <a:ext cx="9966960" cy="4572000"/>
          </a:xfrm>
          <a:prstGeom prst="rect">
            <a:avLst/>
          </a:prstGeom>
          <a:noFill/>
        </p:spPr>
        <p:txBody>
          <a:bodyPr wrap="square">
            <a:spAutoFit/>
          </a:bodyPr>
          <a:lstStyle/>
          <a:p>
            <a:pPr>
              <a:spcAft>
                <a:spcPts val="2400"/>
              </a:spcAft>
            </a:pPr>
            <a:r>
              <a:rPr sz="2200" b="0">
                <a:solidFill>
                  <a:srgbClr val="1F3A5F"/>
                </a:solidFill>
                <a:latin typeface="Calibri"/>
              </a:rPr>
              <a:t>•  Membangunkan sistem headlamp automatik menggunakan Arduino dan sensor LDR.</a:t>
            </a:r>
          </a:p>
          <a:p>
            <a:pPr>
              <a:spcAft>
                <a:spcPts val="2400"/>
              </a:spcAft>
            </a:pPr>
            <a:r>
              <a:rPr sz="2200" b="0">
                <a:solidFill>
                  <a:srgbClr val="1F3A5F"/>
                </a:solidFill>
                <a:latin typeface="Calibri"/>
              </a:rPr>
              <a:t>•  Menguji sistem kawalan lampu berdasarkan perubahan keadaan cahaya.</a:t>
            </a:r>
          </a:p>
          <a:p>
            <a:pPr>
              <a:spcAft>
                <a:spcPts val="2400"/>
              </a:spcAft>
            </a:pPr>
            <a:r>
              <a:rPr sz="2200" b="0">
                <a:solidFill>
                  <a:srgbClr val="1F3A5F"/>
                </a:solidFill>
                <a:latin typeface="Calibri"/>
              </a:rPr>
              <a:t>•  Menghasilkan sistem wiper automatik bagi meningkatkan keselesaan dan keselamatan pemandu.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SKOP PROJEK</a:t>
            </a:r>
          </a:p>
        </p:txBody>
      </p:sp>
      <p:sp>
        <p:nvSpPr>
          <p:cNvPr id="3" name="Rounded Rectangle 2"/>
          <p:cNvSpPr/>
          <p:nvPr/>
        </p:nvSpPr>
        <p:spPr>
          <a:xfrm>
            <a:off x="640080" y="1143000"/>
            <a:ext cx="5303520" cy="237744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700" b="1">
                <a:solidFill>
                  <a:srgbClr val="1F3A5F"/>
                </a:solidFill>
                <a:latin typeface="Calibri"/>
              </a:rPr>
              <a:t>1. SISTEM</a:t>
            </a:r>
          </a:p>
          <a:p>
            <a:pPr algn="ctr">
              <a:spcAft>
                <a:spcPts val="300"/>
              </a:spcAft>
            </a:pPr>
            <a:r>
              <a:rPr sz="1500" b="0">
                <a:solidFill>
                  <a:srgbClr val="1F3A5F"/>
                </a:solidFill>
                <a:latin typeface="Calibri"/>
              </a:rPr>
              <a:t>Headlamp automatik</a:t>
            </a:r>
          </a:p>
          <a:p>
            <a:pPr algn="ctr">
              <a:spcAft>
                <a:spcPts val="300"/>
              </a:spcAft>
            </a:pPr>
            <a:r>
              <a:rPr sz="1500" b="0">
                <a:solidFill>
                  <a:srgbClr val="1F3A5F"/>
                </a:solidFill>
                <a:latin typeface="Calibri"/>
              </a:rPr>
              <a:t>Wiper automatik</a:t>
            </a:r>
          </a:p>
        </p:txBody>
      </p:sp>
      <p:sp>
        <p:nvSpPr>
          <p:cNvPr id="4" name="Rounded Rectangle 3"/>
          <p:cNvSpPr/>
          <p:nvPr/>
        </p:nvSpPr>
        <p:spPr>
          <a:xfrm>
            <a:off x="6263640" y="1143000"/>
            <a:ext cx="5303520" cy="237744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700" b="1">
                <a:solidFill>
                  <a:srgbClr val="1F3A5F"/>
                </a:solidFill>
                <a:latin typeface="Calibri"/>
              </a:rPr>
              <a:t>2. KAWASAN</a:t>
            </a:r>
          </a:p>
          <a:p>
            <a:pPr algn="ctr">
              <a:spcAft>
                <a:spcPts val="300"/>
              </a:spcAft>
            </a:pPr>
            <a:r>
              <a:rPr sz="1500" b="0">
                <a:solidFill>
                  <a:srgbClr val="1F3A5F"/>
                </a:solidFill>
                <a:latin typeface="Calibri"/>
              </a:rPr>
              <a:t>Bahagian hadapan kenderaan</a:t>
            </a:r>
          </a:p>
          <a:p>
            <a:pPr algn="ctr">
              <a:spcAft>
                <a:spcPts val="300"/>
              </a:spcAft>
            </a:pPr>
            <a:r>
              <a:rPr sz="1500" b="0">
                <a:solidFill>
                  <a:srgbClr val="1F3A5F"/>
                </a:solidFill>
                <a:latin typeface="Calibri"/>
              </a:rPr>
              <a:t>Fokus: lampu &amp; cermin hadapan</a:t>
            </a:r>
          </a:p>
        </p:txBody>
      </p:sp>
      <p:sp>
        <p:nvSpPr>
          <p:cNvPr id="5" name="Rounded Rectangle 4"/>
          <p:cNvSpPr/>
          <p:nvPr/>
        </p:nvSpPr>
        <p:spPr>
          <a:xfrm>
            <a:off x="640080" y="3657600"/>
            <a:ext cx="5303520" cy="237744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700" b="1">
                <a:solidFill>
                  <a:srgbClr val="1F3A5F"/>
                </a:solidFill>
                <a:latin typeface="Calibri"/>
              </a:rPr>
              <a:t>3. TEMPAT</a:t>
            </a:r>
          </a:p>
          <a:p>
            <a:pPr algn="ctr">
              <a:spcAft>
                <a:spcPts val="300"/>
              </a:spcAft>
            </a:pPr>
            <a:r>
              <a:rPr sz="1500" b="0">
                <a:solidFill>
                  <a:srgbClr val="1F3A5F"/>
                </a:solidFill>
                <a:latin typeface="Calibri"/>
              </a:rPr>
              <a:t>Dibangunkan &amp; diuji dalam</a:t>
            </a:r>
          </a:p>
          <a:p>
            <a:pPr algn="ctr">
              <a:spcAft>
                <a:spcPts val="300"/>
              </a:spcAft>
            </a:pPr>
            <a:r>
              <a:rPr sz="1500" b="0">
                <a:solidFill>
                  <a:srgbClr val="1F3A5F"/>
                </a:solidFill>
                <a:latin typeface="Calibri"/>
              </a:rPr>
              <a:t>persekitaran bengkel / makmal</a:t>
            </a:r>
          </a:p>
        </p:txBody>
      </p:sp>
      <p:sp>
        <p:nvSpPr>
          <p:cNvPr id="6" name="Rounded Rectangle 5"/>
          <p:cNvSpPr/>
          <p:nvPr/>
        </p:nvSpPr>
        <p:spPr>
          <a:xfrm>
            <a:off x="6263640" y="3657600"/>
            <a:ext cx="5303520" cy="237744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700" b="1">
                <a:solidFill>
                  <a:srgbClr val="1F3A5F"/>
                </a:solidFill>
                <a:latin typeface="Calibri"/>
              </a:rPr>
              <a:t>4. SPESIFIKASI</a:t>
            </a:r>
          </a:p>
          <a:p>
            <a:pPr algn="ctr">
              <a:spcAft>
                <a:spcPts val="300"/>
              </a:spcAft>
            </a:pPr>
            <a:r>
              <a:rPr sz="1500" b="0">
                <a:solidFill>
                  <a:srgbClr val="1F3A5F"/>
                </a:solidFill>
                <a:latin typeface="Calibri"/>
              </a:rPr>
              <a:t>Arduino Uno - pengawal</a:t>
            </a:r>
          </a:p>
          <a:p>
            <a:pPr algn="ctr">
              <a:spcAft>
                <a:spcPts val="300"/>
              </a:spcAft>
            </a:pPr>
            <a:r>
              <a:rPr sz="1500" b="0">
                <a:solidFill>
                  <a:srgbClr val="1F3A5F"/>
                </a:solidFill>
                <a:latin typeface="Calibri"/>
              </a:rPr>
              <a:t>LDR &amp; Sensor Ultrasonik</a:t>
            </a:r>
          </a:p>
          <a:p>
            <a:pPr algn="ctr">
              <a:spcAft>
                <a:spcPts val="300"/>
              </a:spcAft>
            </a:pPr>
            <a:r>
              <a:rPr sz="1500" b="0">
                <a:solidFill>
                  <a:srgbClr val="1F3A5F"/>
                </a:solidFill>
                <a:latin typeface="Calibri"/>
              </a:rPr>
              <a:t>Water Level Sensor</a:t>
            </a:r>
          </a:p>
          <a:p>
            <a:pPr algn="ctr">
              <a:spcAft>
                <a:spcPts val="300"/>
              </a:spcAft>
            </a:pPr>
            <a:r>
              <a:rPr sz="1500" b="0">
                <a:solidFill>
                  <a:srgbClr val="1F3A5F"/>
                </a:solidFill>
                <a:latin typeface="Calibri"/>
              </a:rPr>
              <a:t>Servo SG90 &amp; Relay</a:t>
            </a:r>
          </a:p>
          <a:p>
            <a:pPr algn="ctr">
              <a:spcAft>
                <a:spcPts val="300"/>
              </a:spcAft>
            </a:pPr>
            <a:r>
              <a:rPr sz="1500" b="0">
                <a:solidFill>
                  <a:srgbClr val="1F3A5F"/>
                </a:solidFill>
                <a:latin typeface="Calibri"/>
              </a:rPr>
              <a:t>Bekalan 12V + Buck Converter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BAHAN-BAHAN / KOMPONEN</a:t>
            </a:r>
          </a:p>
        </p:txBody>
      </p:sp>
      <p:sp>
        <p:nvSpPr>
          <p:cNvPr id="3" name="Rounded Rectangle 2"/>
          <p:cNvSpPr/>
          <p:nvPr/>
        </p:nvSpPr>
        <p:spPr>
          <a:xfrm>
            <a:off x="822960" y="14630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Arduino Uno</a:t>
            </a:r>
          </a:p>
        </p:txBody>
      </p:sp>
      <p:sp>
        <p:nvSpPr>
          <p:cNvPr id="4" name="Rounded Rectangle 3"/>
          <p:cNvSpPr/>
          <p:nvPr/>
        </p:nvSpPr>
        <p:spPr>
          <a:xfrm>
            <a:off x="4480560" y="14630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Suis</a:t>
            </a:r>
          </a:p>
        </p:txBody>
      </p:sp>
      <p:sp>
        <p:nvSpPr>
          <p:cNvPr id="5" name="Rounded Rectangle 4"/>
          <p:cNvSpPr/>
          <p:nvPr/>
        </p:nvSpPr>
        <p:spPr>
          <a:xfrm>
            <a:off x="8138160" y="14630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Sensor LDR</a:t>
            </a:r>
          </a:p>
        </p:txBody>
      </p:sp>
      <p:sp>
        <p:nvSpPr>
          <p:cNvPr id="6" name="Rounded Rectangle 5"/>
          <p:cNvSpPr/>
          <p:nvPr/>
        </p:nvSpPr>
        <p:spPr>
          <a:xfrm>
            <a:off x="822960" y="30632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Sensor Ultrasonik JSNSR04T</a:t>
            </a:r>
          </a:p>
        </p:txBody>
      </p:sp>
      <p:sp>
        <p:nvSpPr>
          <p:cNvPr id="7" name="Rounded Rectangle 6"/>
          <p:cNvSpPr/>
          <p:nvPr/>
        </p:nvSpPr>
        <p:spPr>
          <a:xfrm>
            <a:off x="4480560" y="30632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Relay 4-Pin</a:t>
            </a:r>
          </a:p>
        </p:txBody>
      </p:sp>
      <p:sp>
        <p:nvSpPr>
          <p:cNvPr id="8" name="Rounded Rectangle 7"/>
          <p:cNvSpPr/>
          <p:nvPr/>
        </p:nvSpPr>
        <p:spPr>
          <a:xfrm>
            <a:off x="8138160" y="30632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Lampu 2-Pin</a:t>
            </a:r>
          </a:p>
        </p:txBody>
      </p:sp>
      <p:sp>
        <p:nvSpPr>
          <p:cNvPr id="9" name="Rounded Rectangle 8"/>
          <p:cNvSpPr/>
          <p:nvPr/>
        </p:nvSpPr>
        <p:spPr>
          <a:xfrm>
            <a:off x="822960" y="46634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Servo Motor SG90</a:t>
            </a:r>
          </a:p>
        </p:txBody>
      </p:sp>
      <p:sp>
        <p:nvSpPr>
          <p:cNvPr id="10" name="Rounded Rectangle 9"/>
          <p:cNvSpPr/>
          <p:nvPr/>
        </p:nvSpPr>
        <p:spPr>
          <a:xfrm>
            <a:off x="4480560" y="46634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Water Level Sensor</a:t>
            </a:r>
          </a:p>
        </p:txBody>
      </p:sp>
      <p:sp>
        <p:nvSpPr>
          <p:cNvPr id="11" name="Rounded Rectangle 10"/>
          <p:cNvSpPr/>
          <p:nvPr/>
        </p:nvSpPr>
        <p:spPr>
          <a:xfrm>
            <a:off x="8138160" y="4663440"/>
            <a:ext cx="3291840" cy="105156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3A5F"/>
                </a:solidFill>
                <a:latin typeface="Calibri"/>
              </a:rPr>
              <a:t>Buck Converter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CARTA BLOK SISTEM</a:t>
            </a:r>
          </a:p>
        </p:txBody>
      </p:sp>
      <p:sp>
        <p:nvSpPr>
          <p:cNvPr id="3" name="Rounded Rectangle 2"/>
          <p:cNvSpPr/>
          <p:nvPr/>
        </p:nvSpPr>
        <p:spPr>
          <a:xfrm>
            <a:off x="3931920" y="1143000"/>
            <a:ext cx="3108960" cy="45720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Bekalan 12V</a:t>
            </a:r>
          </a:p>
        </p:txBody>
      </p:sp>
      <p:sp>
        <p:nvSpPr>
          <p:cNvPr id="4" name="Rounded Rectangle 3"/>
          <p:cNvSpPr/>
          <p:nvPr/>
        </p:nvSpPr>
        <p:spPr>
          <a:xfrm>
            <a:off x="3931920" y="1874519"/>
            <a:ext cx="3108960" cy="45720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Buck Converter</a:t>
            </a:r>
          </a:p>
        </p:txBody>
      </p:sp>
      <p:sp>
        <p:nvSpPr>
          <p:cNvPr id="5" name="Rounded Rectangle 4"/>
          <p:cNvSpPr/>
          <p:nvPr/>
        </p:nvSpPr>
        <p:spPr>
          <a:xfrm>
            <a:off x="3931920" y="2606040"/>
            <a:ext cx="3108960" cy="50292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Arduino</a:t>
            </a:r>
          </a:p>
        </p:txBody>
      </p:sp>
      <p:sp>
        <p:nvSpPr>
          <p:cNvPr id="6" name="Rounded Rectangle 5"/>
          <p:cNvSpPr/>
          <p:nvPr/>
        </p:nvSpPr>
        <p:spPr>
          <a:xfrm>
            <a:off x="3931920" y="4206240"/>
            <a:ext cx="3108960" cy="50292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Sistem Kawalan</a:t>
            </a:r>
          </a:p>
        </p:txBody>
      </p:sp>
      <p:cxnSp>
        <p:nvCxnSpPr>
          <p:cNvPr id="7" name="Connector 6"/>
          <p:cNvCxnSpPr/>
          <p:nvPr/>
        </p:nvCxnSpPr>
        <p:spPr>
          <a:xfrm>
            <a:off x="5486400" y="1600200"/>
            <a:ext cx="0" cy="256031"/>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2331720"/>
            <a:ext cx="0" cy="256032"/>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486400" y="3108960"/>
            <a:ext cx="0" cy="1078992"/>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 y="2697480"/>
            <a:ext cx="2651760" cy="45720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Suis</a:t>
            </a:r>
          </a:p>
        </p:txBody>
      </p:sp>
      <p:cxnSp>
        <p:nvCxnSpPr>
          <p:cNvPr id="11" name="Connector 10"/>
          <p:cNvCxnSpPr/>
          <p:nvPr/>
        </p:nvCxnSpPr>
        <p:spPr>
          <a:xfrm flipV="1">
            <a:off x="3291840" y="2788920"/>
            <a:ext cx="640080" cy="13716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657600"/>
            <a:ext cx="2651760" cy="45720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Sensor LDR</a:t>
            </a:r>
          </a:p>
        </p:txBody>
      </p:sp>
      <p:sp>
        <p:nvSpPr>
          <p:cNvPr id="13" name="Rounded Rectangle 12"/>
          <p:cNvSpPr/>
          <p:nvPr/>
        </p:nvSpPr>
        <p:spPr>
          <a:xfrm>
            <a:off x="640080" y="4251960"/>
            <a:ext cx="2651760" cy="45720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Sensor Ultrasonik</a:t>
            </a:r>
          </a:p>
        </p:txBody>
      </p:sp>
      <p:sp>
        <p:nvSpPr>
          <p:cNvPr id="14" name="Rounded Rectangle 13"/>
          <p:cNvSpPr/>
          <p:nvPr/>
        </p:nvSpPr>
        <p:spPr>
          <a:xfrm>
            <a:off x="640080" y="4846320"/>
            <a:ext cx="2651760" cy="45720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Water Level Sensor</a:t>
            </a:r>
          </a:p>
        </p:txBody>
      </p:sp>
      <p:cxnSp>
        <p:nvCxnSpPr>
          <p:cNvPr id="15" name="Connector 14"/>
          <p:cNvCxnSpPr/>
          <p:nvPr/>
        </p:nvCxnSpPr>
        <p:spPr>
          <a:xfrm>
            <a:off x="3291840" y="3886200"/>
            <a:ext cx="640080" cy="484632"/>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91840" y="4480560"/>
            <a:ext cx="640080"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91840" y="4645152"/>
            <a:ext cx="640080" cy="429768"/>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680960" y="3931920"/>
            <a:ext cx="3108960" cy="457200"/>
          </a:xfrm>
          <a:prstGeom prst="roundRect">
            <a:avLst/>
          </a:prstGeom>
          <a:solidFill>
            <a:srgbClr val="FFF2CC"/>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Relay</a:t>
            </a:r>
          </a:p>
        </p:txBody>
      </p:sp>
      <p:sp>
        <p:nvSpPr>
          <p:cNvPr id="19" name="Rounded Rectangle 18"/>
          <p:cNvSpPr/>
          <p:nvPr/>
        </p:nvSpPr>
        <p:spPr>
          <a:xfrm>
            <a:off x="7680960" y="4572000"/>
            <a:ext cx="3108960" cy="457200"/>
          </a:xfrm>
          <a:prstGeom prst="roundRect">
            <a:avLst/>
          </a:prstGeom>
          <a:solidFill>
            <a:srgbClr val="FFF2CC"/>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Lampu (Headlamp)</a:t>
            </a:r>
          </a:p>
        </p:txBody>
      </p:sp>
      <p:sp>
        <p:nvSpPr>
          <p:cNvPr id="20" name="Rounded Rectangle 19"/>
          <p:cNvSpPr/>
          <p:nvPr/>
        </p:nvSpPr>
        <p:spPr>
          <a:xfrm>
            <a:off x="7680960" y="5257800"/>
            <a:ext cx="3108960" cy="457200"/>
          </a:xfrm>
          <a:prstGeom prst="roundRect">
            <a:avLst/>
          </a:prstGeom>
          <a:solidFill>
            <a:srgbClr val="FFF2CC"/>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A5F"/>
                </a:solidFill>
                <a:latin typeface="Calibri"/>
              </a:rPr>
              <a:t>Servo Motor SG90</a:t>
            </a:r>
          </a:p>
        </p:txBody>
      </p:sp>
      <p:cxnSp>
        <p:nvCxnSpPr>
          <p:cNvPr id="21" name="Connector 20"/>
          <p:cNvCxnSpPr/>
          <p:nvPr/>
        </p:nvCxnSpPr>
        <p:spPr>
          <a:xfrm flipV="1">
            <a:off x="7040880" y="4160520"/>
            <a:ext cx="640080" cy="18288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35440" y="4389120"/>
            <a:ext cx="0" cy="164592"/>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040880" y="4572000"/>
            <a:ext cx="640080" cy="86868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CARA SISTEM BERFUNGSI</a:t>
            </a:r>
          </a:p>
        </p:txBody>
      </p:sp>
      <p:sp>
        <p:nvSpPr>
          <p:cNvPr id="3" name="Rounded Rectangle 2"/>
          <p:cNvSpPr/>
          <p:nvPr/>
        </p:nvSpPr>
        <p:spPr>
          <a:xfrm>
            <a:off x="640080" y="1188720"/>
            <a:ext cx="5394960" cy="512064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pPr>
            <a:r>
              <a:rPr sz="2400" b="1">
                <a:solidFill>
                  <a:srgbClr val="1F3A5F"/>
                </a:solidFill>
                <a:latin typeface="Calibri"/>
              </a:rPr>
              <a:t>💡 HEADLAMP</a:t>
            </a:r>
          </a:p>
          <a:p>
            <a:pPr>
              <a:spcAft>
                <a:spcPts val="1200"/>
              </a:spcAft>
            </a:pPr>
            <a:r>
              <a:rPr sz="1800" b="0">
                <a:solidFill>
                  <a:srgbClr val="1F3A5F"/>
                </a:solidFill>
                <a:latin typeface="Calibri"/>
              </a:rPr>
              <a:t>•  Sensor LDR mengesan tahap cahaya.</a:t>
            </a:r>
          </a:p>
          <a:p>
            <a:pPr>
              <a:spcAft>
                <a:spcPts val="1200"/>
              </a:spcAft>
            </a:pPr>
            <a:r>
              <a:rPr sz="1800" b="0">
                <a:solidFill>
                  <a:srgbClr val="1F3A5F"/>
                </a:solidFill>
                <a:latin typeface="Calibri"/>
              </a:rPr>
              <a:t>•  Sensor Ultrasonik mengesan kenderaan hadapan.</a:t>
            </a:r>
          </a:p>
          <a:p>
            <a:pPr>
              <a:spcAft>
                <a:spcPts val="1200"/>
              </a:spcAft>
            </a:pPr>
            <a:r>
              <a:rPr sz="1800" b="0">
                <a:solidFill>
                  <a:srgbClr val="1F3A5F"/>
                </a:solidFill>
                <a:latin typeface="Calibri"/>
              </a:rPr>
              <a:t>•  Arduino memproses bacaan sensor.</a:t>
            </a:r>
          </a:p>
          <a:p>
            <a:pPr>
              <a:spcAft>
                <a:spcPts val="1200"/>
              </a:spcAft>
            </a:pPr>
            <a:r>
              <a:rPr sz="1800" b="0">
                <a:solidFill>
                  <a:srgbClr val="1F3A5F"/>
                </a:solidFill>
                <a:latin typeface="Calibri"/>
              </a:rPr>
              <a:t>•  Relay mengaktifkan lampu secara automatik.</a:t>
            </a:r>
          </a:p>
        </p:txBody>
      </p:sp>
      <p:sp>
        <p:nvSpPr>
          <p:cNvPr id="4" name="Rounded Rectangle 3"/>
          <p:cNvSpPr/>
          <p:nvPr/>
        </p:nvSpPr>
        <p:spPr>
          <a:xfrm>
            <a:off x="6400800" y="1188720"/>
            <a:ext cx="5394960" cy="5120640"/>
          </a:xfrm>
          <a:prstGeom prst="roundRect">
            <a:avLst/>
          </a:prstGeom>
          <a:solidFill>
            <a:srgbClr val="DCE6F1"/>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pPr>
            <a:r>
              <a:rPr sz="2400" b="1">
                <a:solidFill>
                  <a:srgbClr val="1F3A5F"/>
                </a:solidFill>
                <a:latin typeface="Calibri"/>
              </a:rPr>
              <a:t>🌧️ WIPER</a:t>
            </a:r>
          </a:p>
          <a:p>
            <a:pPr>
              <a:spcAft>
                <a:spcPts val="1200"/>
              </a:spcAft>
            </a:pPr>
            <a:r>
              <a:rPr sz="1800" b="0">
                <a:solidFill>
                  <a:srgbClr val="1F3A5F"/>
                </a:solidFill>
                <a:latin typeface="Calibri"/>
              </a:rPr>
              <a:t>•  Water Level Sensor mengesan air pada cermin.</a:t>
            </a:r>
          </a:p>
          <a:p>
            <a:pPr>
              <a:spcAft>
                <a:spcPts val="1200"/>
              </a:spcAft>
            </a:pPr>
            <a:r>
              <a:rPr sz="1800" b="0">
                <a:solidFill>
                  <a:srgbClr val="1F3A5F"/>
                </a:solidFill>
                <a:latin typeface="Calibri"/>
              </a:rPr>
              <a:t>•  Arduino menerima dan memproses bacaan.</a:t>
            </a:r>
          </a:p>
          <a:p>
            <a:pPr>
              <a:spcAft>
                <a:spcPts val="1200"/>
              </a:spcAft>
            </a:pPr>
            <a:r>
              <a:rPr sz="1800" b="0">
                <a:solidFill>
                  <a:srgbClr val="1F3A5F"/>
                </a:solidFill>
                <a:latin typeface="Calibri"/>
              </a:rPr>
              <a:t>•  Servo Motor SG90 diaktifkan.</a:t>
            </a:r>
          </a:p>
          <a:p>
            <a:pPr>
              <a:spcAft>
                <a:spcPts val="1200"/>
              </a:spcAft>
            </a:pPr>
            <a:r>
              <a:rPr sz="1800" b="0">
                <a:solidFill>
                  <a:srgbClr val="1F3A5F"/>
                </a:solidFill>
                <a:latin typeface="Calibri"/>
              </a:rPr>
              <a:t>•  Servo menggerakkan wiper membersihkan cermin hadapan.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KELEBIHAN PROJEK</a:t>
            </a:r>
          </a:p>
        </p:txBody>
      </p:sp>
      <p:sp>
        <p:nvSpPr>
          <p:cNvPr id="3" name="TextBox 2"/>
          <p:cNvSpPr txBox="1"/>
          <p:nvPr/>
        </p:nvSpPr>
        <p:spPr>
          <a:xfrm>
            <a:off x="1097280" y="1463040"/>
            <a:ext cx="9966960" cy="4754880"/>
          </a:xfrm>
          <a:prstGeom prst="rect">
            <a:avLst/>
          </a:prstGeom>
          <a:noFill/>
        </p:spPr>
        <p:txBody>
          <a:bodyPr wrap="square">
            <a:spAutoFit/>
          </a:bodyPr>
          <a:lstStyle/>
          <a:p>
            <a:pPr>
              <a:spcAft>
                <a:spcPts val="1800"/>
              </a:spcAft>
            </a:pPr>
            <a:r>
              <a:rPr sz="2400" b="0">
                <a:solidFill>
                  <a:srgbClr val="1F3A5F"/>
                </a:solidFill>
                <a:latin typeface="Calibri"/>
              </a:rPr>
              <a:t>✅  Mengurangkan kawalan manual</a:t>
            </a:r>
          </a:p>
          <a:p>
            <a:pPr>
              <a:spcAft>
                <a:spcPts val="1800"/>
              </a:spcAft>
            </a:pPr>
            <a:r>
              <a:rPr sz="2400" b="0">
                <a:solidFill>
                  <a:srgbClr val="1F3A5F"/>
                </a:solidFill>
                <a:latin typeface="Calibri"/>
              </a:rPr>
              <a:t>✅  Memudahkan pemandu</a:t>
            </a:r>
          </a:p>
          <a:p>
            <a:pPr>
              <a:spcAft>
                <a:spcPts val="1800"/>
              </a:spcAft>
            </a:pPr>
            <a:r>
              <a:rPr sz="2400" b="0">
                <a:solidFill>
                  <a:srgbClr val="1F3A5F"/>
                </a:solidFill>
                <a:latin typeface="Calibri"/>
              </a:rPr>
              <a:t>✅  Meningkatkan keselamatan</a:t>
            </a:r>
          </a:p>
          <a:p>
            <a:pPr>
              <a:spcAft>
                <a:spcPts val="1800"/>
              </a:spcAft>
            </a:pPr>
            <a:r>
              <a:rPr sz="2400" b="0">
                <a:solidFill>
                  <a:srgbClr val="1F3A5F"/>
                </a:solidFill>
                <a:latin typeface="Calibri"/>
              </a:rPr>
              <a:t>✅  Sistem lebih praktikal</a:t>
            </a:r>
          </a:p>
          <a:p>
            <a:pPr>
              <a:spcAft>
                <a:spcPts val="1800"/>
              </a:spcAft>
            </a:pPr>
            <a:r>
              <a:rPr sz="2400" b="0">
                <a:solidFill>
                  <a:srgbClr val="1F3A5F"/>
                </a:solidFill>
                <a:latin typeface="Calibri"/>
              </a:rPr>
              <a:t>✅  Menggunakan teknologi Arduino dan sensor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F3A5F"/>
                </a:solidFill>
                <a:latin typeface="Calibri"/>
              </a:rPr>
              <a:t>KESIMPULAN</a:t>
            </a:r>
          </a:p>
        </p:txBody>
      </p:sp>
      <p:sp>
        <p:nvSpPr>
          <p:cNvPr id="3" name="TextBox 2"/>
          <p:cNvSpPr txBox="1"/>
          <p:nvPr/>
        </p:nvSpPr>
        <p:spPr>
          <a:xfrm>
            <a:off x="1097280" y="1463040"/>
            <a:ext cx="9966960" cy="1737360"/>
          </a:xfrm>
          <a:prstGeom prst="rect">
            <a:avLst/>
          </a:prstGeom>
          <a:noFill/>
        </p:spPr>
        <p:txBody>
          <a:bodyPr wrap="square">
            <a:spAutoFit/>
          </a:bodyPr>
          <a:lstStyle/>
          <a:p>
            <a:pPr algn="ctr">
              <a:lnSpc>
                <a:spcPct val="130000"/>
              </a:lnSpc>
            </a:pPr>
            <a:r>
              <a:rPr sz="2000" b="0">
                <a:solidFill>
                  <a:srgbClr val="1F3A5F"/>
                </a:solidFill>
                <a:latin typeface="Calibri"/>
              </a:rPr>
              <a:t>Projek ini menghasilkan satu sistem automotif yang menggabungkan headlamp dan wiper secara automatik menggunakan Arduino dan sensor. Sistem ini dapat membantu memudahkan pemandu serta meningkatkan aspek keselamatan dan keselesaan ketika memandu.</a:t>
            </a:r>
          </a:p>
        </p:txBody>
      </p:sp>
      <p:sp>
        <p:nvSpPr>
          <p:cNvPr id="4" name="TextBox 3"/>
          <p:cNvSpPr txBox="1"/>
          <p:nvPr/>
        </p:nvSpPr>
        <p:spPr>
          <a:xfrm>
            <a:off x="640080" y="3657600"/>
            <a:ext cx="10881360" cy="1005840"/>
          </a:xfrm>
          <a:prstGeom prst="rect">
            <a:avLst/>
          </a:prstGeom>
          <a:noFill/>
        </p:spPr>
        <p:txBody>
          <a:bodyPr wrap="square">
            <a:spAutoFit/>
          </a:bodyPr>
          <a:lstStyle/>
          <a:p>
            <a:pPr algn="ctr"/>
            <a:r>
              <a:rPr sz="4000" b="1">
                <a:solidFill>
                  <a:srgbClr val="1F3A5F"/>
                </a:solidFill>
                <a:latin typeface="Calibri"/>
              </a:rPr>
              <a:t>TERIMA KASIH  🚗💡</a:t>
            </a:r>
          </a:p>
        </p:txBody>
      </p:sp>
      <p:sp>
        <p:nvSpPr>
          <p:cNvPr id="5" name="TextBox 4"/>
          <p:cNvSpPr txBox="1"/>
          <p:nvPr/>
        </p:nvSpPr>
        <p:spPr>
          <a:xfrm>
            <a:off x="640080" y="4846320"/>
            <a:ext cx="10881360" cy="548640"/>
          </a:xfrm>
          <a:prstGeom prst="rect">
            <a:avLst/>
          </a:prstGeom>
          <a:noFill/>
        </p:spPr>
        <p:txBody>
          <a:bodyPr wrap="square">
            <a:spAutoFit/>
          </a:bodyPr>
          <a:lstStyle/>
          <a:p>
            <a:pPr algn="ctr"/>
            <a:r>
              <a:rPr sz="2000" b="1">
                <a:solidFill>
                  <a:srgbClr val="C99700"/>
                </a:solidFill>
                <a:latin typeface="Calibri"/>
              </a:rPr>
              <a:t>Soalan daripada panel dialu-alukan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