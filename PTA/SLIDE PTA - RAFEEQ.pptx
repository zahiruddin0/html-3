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DIN Next Bold" charset="1" panose="020B0803020203050203"/>
      <p:regular r:id="rId18"/>
    </p:embeddedFont>
    <p:embeddedFont>
      <p:font typeface="DIN Next" charset="1" panose="020B05030202030502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 Id="rId9" Target="../media/image1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jpeg" Type="http://schemas.openxmlformats.org/officeDocument/2006/relationships/image"/><Relationship Id="rId12" Target="../media/image25.jpe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jpeg" Type="http://schemas.openxmlformats.org/officeDocument/2006/relationships/image"/><Relationship Id="rId8" Target="../media/image32.jpeg" Type="http://schemas.openxmlformats.org/officeDocument/2006/relationships/image"/><Relationship Id="rId9" Target="../media/image3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4.jpeg" Type="http://schemas.openxmlformats.org/officeDocument/2006/relationships/image"/><Relationship Id="rId8" Target="../media/image3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231" t="-19061" r="-11075" b="-17820"/>
            </a:stretch>
          </a:blipFill>
        </p:spPr>
      </p:sp>
      <p:sp>
        <p:nvSpPr>
          <p:cNvPr name="Freeform 3" id="3"/>
          <p:cNvSpPr/>
          <p:nvPr/>
        </p:nvSpPr>
        <p:spPr>
          <a:xfrm flipH="true" flipV="false" rot="0">
            <a:off x="-350080" y="9092685"/>
            <a:ext cx="9961255" cy="1344769"/>
          </a:xfrm>
          <a:custGeom>
            <a:avLst/>
            <a:gdLst/>
            <a:ahLst/>
            <a:cxnLst/>
            <a:rect r="r" b="b" t="t" l="l"/>
            <a:pathLst>
              <a:path h="1344769" w="9961255">
                <a:moveTo>
                  <a:pt x="9961255" y="0"/>
                </a:moveTo>
                <a:lnTo>
                  <a:pt x="0" y="0"/>
                </a:lnTo>
                <a:lnTo>
                  <a:pt x="0" y="1344769"/>
                </a:lnTo>
                <a:lnTo>
                  <a:pt x="9961255" y="1344769"/>
                </a:lnTo>
                <a:lnTo>
                  <a:pt x="9961255"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459798"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5">
              <a:extLst>
                <a:ext uri="{96DAC541-7B7A-43D3-8B79-37D633B846F1}">
                  <asvg:svgBlip xmlns:asvg="http://schemas.microsoft.com/office/drawing/2016/SVG/main" r:embed="rId6"/>
                </a:ext>
              </a:extLst>
            </a:blip>
            <a:stretch>
              <a:fillRect l="0" t="-397714" r="0" b="0"/>
            </a:stretch>
          </a:blipFill>
        </p:spPr>
      </p:sp>
      <p:sp>
        <p:nvSpPr>
          <p:cNvPr name="Freeform 5" id="5"/>
          <p:cNvSpPr/>
          <p:nvPr/>
        </p:nvSpPr>
        <p:spPr>
          <a:xfrm flipH="false" flipV="false" rot="0">
            <a:off x="11558262" y="2570936"/>
            <a:ext cx="6262668" cy="4668705"/>
          </a:xfrm>
          <a:custGeom>
            <a:avLst/>
            <a:gdLst/>
            <a:ahLst/>
            <a:cxnLst/>
            <a:rect r="r" b="b" t="t" l="l"/>
            <a:pathLst>
              <a:path h="4668705" w="6262668">
                <a:moveTo>
                  <a:pt x="0" y="0"/>
                </a:moveTo>
                <a:lnTo>
                  <a:pt x="6262668" y="0"/>
                </a:lnTo>
                <a:lnTo>
                  <a:pt x="6262668" y="4668705"/>
                </a:lnTo>
                <a:lnTo>
                  <a:pt x="0" y="4668705"/>
                </a:lnTo>
                <a:lnTo>
                  <a:pt x="0" y="0"/>
                </a:lnTo>
                <a:close/>
              </a:path>
            </a:pathLst>
          </a:custGeom>
          <a:blipFill>
            <a:blip r:embed="rId7"/>
            <a:stretch>
              <a:fillRect l="-2498" t="0" r="-2498" b="0"/>
            </a:stretch>
          </a:blipFill>
        </p:spPr>
      </p:sp>
      <p:sp>
        <p:nvSpPr>
          <p:cNvPr name="TextBox 6" id="6"/>
          <p:cNvSpPr txBox="true"/>
          <p:nvPr/>
        </p:nvSpPr>
        <p:spPr>
          <a:xfrm rot="0">
            <a:off x="4276899" y="122775"/>
            <a:ext cx="9734201" cy="2815590"/>
          </a:xfrm>
          <a:prstGeom prst="rect">
            <a:avLst/>
          </a:prstGeom>
        </p:spPr>
        <p:txBody>
          <a:bodyPr anchor="t" rtlCol="false" tIns="0" lIns="0" bIns="0" rIns="0">
            <a:spAutoFit/>
          </a:bodyPr>
          <a:lstStyle/>
          <a:p>
            <a:pPr algn="ctr">
              <a:lnSpc>
                <a:spcPts val="7079"/>
              </a:lnSpc>
            </a:pPr>
            <a:r>
              <a:rPr lang="en-US" b="true" sz="5999">
                <a:solidFill>
                  <a:srgbClr val="3D5871"/>
                </a:solidFill>
                <a:latin typeface="DIN Next Bold"/>
                <a:ea typeface="DIN Next Bold"/>
                <a:cs typeface="DIN Next Bold"/>
                <a:sym typeface="DIN Next Bold"/>
              </a:rPr>
              <a:t>AUT</a:t>
            </a:r>
            <a:r>
              <a:rPr lang="en-US" b="true" sz="5999">
                <a:solidFill>
                  <a:srgbClr val="3D5871"/>
                </a:solidFill>
                <a:latin typeface="DIN Next Bold"/>
                <a:ea typeface="DIN Next Bold"/>
                <a:cs typeface="DIN Next Bold"/>
                <a:sym typeface="DIN Next Bold"/>
              </a:rPr>
              <a:t>OMOTIVE AUTOMATIC HEADLAMP SYSTEM AND WIPER </a:t>
            </a:r>
          </a:p>
        </p:txBody>
      </p:sp>
      <p:sp>
        <p:nvSpPr>
          <p:cNvPr name="TextBox 7" id="7"/>
          <p:cNvSpPr txBox="true"/>
          <p:nvPr/>
        </p:nvSpPr>
        <p:spPr>
          <a:xfrm rot="0">
            <a:off x="1028700" y="3535027"/>
            <a:ext cx="10775217" cy="2654300"/>
          </a:xfrm>
          <a:prstGeom prst="rect">
            <a:avLst/>
          </a:prstGeom>
        </p:spPr>
        <p:txBody>
          <a:bodyPr anchor="t" rtlCol="false" tIns="0" lIns="0" bIns="0" rIns="0">
            <a:spAutoFit/>
          </a:bodyPr>
          <a:lstStyle/>
          <a:p>
            <a:pPr algn="l">
              <a:lnSpc>
                <a:spcPts val="2949"/>
              </a:lnSpc>
            </a:pPr>
            <a:r>
              <a:rPr lang="en-US" sz="2499">
                <a:solidFill>
                  <a:srgbClr val="55676D"/>
                </a:solidFill>
                <a:latin typeface="DIN Next"/>
                <a:ea typeface="DIN Next"/>
                <a:cs typeface="DIN Next"/>
                <a:sym typeface="DIN Next"/>
              </a:rPr>
              <a:t>NAMA;1.ZAHIRUDDIN BIN ZAINALABIDIN</a:t>
            </a:r>
          </a:p>
          <a:p>
            <a:pPr algn="l">
              <a:lnSpc>
                <a:spcPts val="2949"/>
              </a:lnSpc>
            </a:pPr>
            <a:r>
              <a:rPr lang="en-US" sz="2499">
                <a:solidFill>
                  <a:srgbClr val="55676D"/>
                </a:solidFill>
                <a:latin typeface="DIN Next"/>
                <a:ea typeface="DIN Next"/>
                <a:cs typeface="DIN Next"/>
                <a:sym typeface="DIN Next"/>
              </a:rPr>
              <a:t>            2.RAFFIQUDIN BIN RAHEZAT</a:t>
            </a:r>
          </a:p>
          <a:p>
            <a:pPr algn="l">
              <a:lnSpc>
                <a:spcPts val="2949"/>
              </a:lnSpc>
            </a:pPr>
            <a:r>
              <a:rPr lang="en-US" sz="2499">
                <a:solidFill>
                  <a:srgbClr val="55676D"/>
                </a:solidFill>
                <a:latin typeface="DIN Next"/>
                <a:ea typeface="DIN Next"/>
                <a:cs typeface="DIN Next"/>
                <a:sym typeface="DIN Next"/>
              </a:rPr>
              <a:t>            3.MUHAMMAD HADIF BIN KHAIRALWEE</a:t>
            </a:r>
          </a:p>
          <a:p>
            <a:pPr algn="l">
              <a:lnSpc>
                <a:spcPts val="2949"/>
              </a:lnSpc>
            </a:pPr>
            <a:r>
              <a:rPr lang="en-US" sz="2499">
                <a:solidFill>
                  <a:srgbClr val="55676D"/>
                </a:solidFill>
                <a:latin typeface="DIN Next"/>
                <a:ea typeface="DIN Next"/>
                <a:cs typeface="DIN Next"/>
                <a:sym typeface="DIN Next"/>
              </a:rPr>
              <a:t>SEMESTER:1</a:t>
            </a:r>
          </a:p>
          <a:p>
            <a:pPr algn="l">
              <a:lnSpc>
                <a:spcPts val="2949"/>
              </a:lnSpc>
            </a:pPr>
            <a:r>
              <a:rPr lang="en-US" sz="2499">
                <a:solidFill>
                  <a:srgbClr val="55676D"/>
                </a:solidFill>
                <a:latin typeface="DIN Next"/>
                <a:ea typeface="DIN Next"/>
                <a:cs typeface="DIN Next"/>
                <a:sym typeface="DIN Next"/>
              </a:rPr>
              <a:t>BENGKEL:AUTOMOTIF</a:t>
            </a:r>
          </a:p>
          <a:p>
            <a:pPr algn="l">
              <a:lnSpc>
                <a:spcPts val="2949"/>
              </a:lnSpc>
            </a:pPr>
            <a:r>
              <a:rPr lang="en-US" sz="2499">
                <a:solidFill>
                  <a:srgbClr val="55676D"/>
                </a:solidFill>
                <a:latin typeface="DIN Next"/>
                <a:ea typeface="DIN Next"/>
                <a:cs typeface="DIN Next"/>
                <a:sym typeface="DIN Next"/>
              </a:rPr>
              <a:t>PENYELIA:EN,SABRI BIN MOHD NOR</a:t>
            </a:r>
          </a:p>
          <a:p>
            <a:pPr algn="l">
              <a:lnSpc>
                <a:spcPts val="2949"/>
              </a:lnSpc>
            </a:pPr>
          </a:p>
        </p:txBody>
      </p:sp>
      <p:sp>
        <p:nvSpPr>
          <p:cNvPr name="Freeform 8" id="8"/>
          <p:cNvSpPr/>
          <p:nvPr/>
        </p:nvSpPr>
        <p:spPr>
          <a:xfrm flipH="false" flipV="false" rot="0">
            <a:off x="12700195" y="3783010"/>
            <a:ext cx="3978803" cy="3799116"/>
          </a:xfrm>
          <a:custGeom>
            <a:avLst/>
            <a:gdLst/>
            <a:ahLst/>
            <a:cxnLst/>
            <a:rect r="r" b="b" t="t" l="l"/>
            <a:pathLst>
              <a:path h="3799116" w="3978803">
                <a:moveTo>
                  <a:pt x="0" y="0"/>
                </a:moveTo>
                <a:lnTo>
                  <a:pt x="3978803" y="0"/>
                </a:lnTo>
                <a:lnTo>
                  <a:pt x="3978803" y="3799115"/>
                </a:lnTo>
                <a:lnTo>
                  <a:pt x="0" y="3799115"/>
                </a:lnTo>
                <a:lnTo>
                  <a:pt x="0" y="0"/>
                </a:lnTo>
                <a:close/>
              </a:path>
            </a:pathLst>
          </a:custGeom>
          <a:blipFill>
            <a:blip r:embed="rId8"/>
            <a:stretch>
              <a:fillRect l="0" t="-15087"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4093" t="0" r="-12737" b="-55683"/>
            </a:stretch>
          </a:blipFill>
        </p:spPr>
      </p:sp>
      <p:sp>
        <p:nvSpPr>
          <p:cNvPr name="Freeform 3" id="3"/>
          <p:cNvSpPr/>
          <p:nvPr/>
        </p:nvSpPr>
        <p:spPr>
          <a:xfrm flipH="false" flipV="false" rot="0">
            <a:off x="1028700" y="615331"/>
            <a:ext cx="4114800" cy="826739"/>
          </a:xfrm>
          <a:custGeom>
            <a:avLst/>
            <a:gdLst/>
            <a:ahLst/>
            <a:cxnLst/>
            <a:rect r="r" b="b" t="t" l="l"/>
            <a:pathLst>
              <a:path h="826739" w="4114800">
                <a:moveTo>
                  <a:pt x="0" y="0"/>
                </a:moveTo>
                <a:lnTo>
                  <a:pt x="4114800" y="0"/>
                </a:lnTo>
                <a:lnTo>
                  <a:pt x="4114800" y="826738"/>
                </a:lnTo>
                <a:lnTo>
                  <a:pt x="0" y="826738"/>
                </a:lnTo>
                <a:lnTo>
                  <a:pt x="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sp>
        <p:nvSpPr>
          <p:cNvPr name="Freeform 4" id="4"/>
          <p:cNvSpPr/>
          <p:nvPr/>
        </p:nvSpPr>
        <p:spPr>
          <a:xfrm flipH="true" flipV="false" rot="0">
            <a:off x="-287477" y="8340853"/>
            <a:ext cx="19375671" cy="2421959"/>
          </a:xfrm>
          <a:custGeom>
            <a:avLst/>
            <a:gdLst/>
            <a:ahLst/>
            <a:cxnLst/>
            <a:rect r="r" b="b" t="t" l="l"/>
            <a:pathLst>
              <a:path h="2421959" w="19375671">
                <a:moveTo>
                  <a:pt x="19375671" y="0"/>
                </a:moveTo>
                <a:lnTo>
                  <a:pt x="0" y="0"/>
                </a:lnTo>
                <a:lnTo>
                  <a:pt x="0" y="2421959"/>
                </a:lnTo>
                <a:lnTo>
                  <a:pt x="19375671" y="2421959"/>
                </a:lnTo>
                <a:lnTo>
                  <a:pt x="19375671"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4066165" y="5287344"/>
            <a:ext cx="4221835" cy="3053509"/>
          </a:xfrm>
          <a:custGeom>
            <a:avLst/>
            <a:gdLst/>
            <a:ahLst/>
            <a:cxnLst/>
            <a:rect r="r" b="b" t="t" l="l"/>
            <a:pathLst>
              <a:path h="3053509" w="4221835">
                <a:moveTo>
                  <a:pt x="0" y="0"/>
                </a:moveTo>
                <a:lnTo>
                  <a:pt x="4221835" y="0"/>
                </a:lnTo>
                <a:lnTo>
                  <a:pt x="4221835" y="3053509"/>
                </a:lnTo>
                <a:lnTo>
                  <a:pt x="0" y="3053509"/>
                </a:lnTo>
                <a:lnTo>
                  <a:pt x="0" y="0"/>
                </a:lnTo>
                <a:close/>
              </a:path>
            </a:pathLst>
          </a:custGeom>
          <a:blipFill>
            <a:blip r:embed="rId7"/>
            <a:stretch>
              <a:fillRect l="-9387" t="0" r="-6697" b="-1384"/>
            </a:stretch>
          </a:blipFill>
        </p:spPr>
      </p:sp>
      <p:sp>
        <p:nvSpPr>
          <p:cNvPr name="Freeform 6" id="6"/>
          <p:cNvSpPr/>
          <p:nvPr/>
        </p:nvSpPr>
        <p:spPr>
          <a:xfrm flipH="false" flipV="false" rot="0">
            <a:off x="206100" y="6946096"/>
            <a:ext cx="7540167" cy="3053509"/>
          </a:xfrm>
          <a:custGeom>
            <a:avLst/>
            <a:gdLst/>
            <a:ahLst/>
            <a:cxnLst/>
            <a:rect r="r" b="b" t="t" l="l"/>
            <a:pathLst>
              <a:path h="3053509" w="7540167">
                <a:moveTo>
                  <a:pt x="0" y="0"/>
                </a:moveTo>
                <a:lnTo>
                  <a:pt x="7540166" y="0"/>
                </a:lnTo>
                <a:lnTo>
                  <a:pt x="7540166" y="3053509"/>
                </a:lnTo>
                <a:lnTo>
                  <a:pt x="0" y="3053509"/>
                </a:lnTo>
                <a:lnTo>
                  <a:pt x="0" y="0"/>
                </a:lnTo>
                <a:close/>
              </a:path>
            </a:pathLst>
          </a:custGeom>
          <a:blipFill>
            <a:blip r:embed="rId8"/>
            <a:stretch>
              <a:fillRect l="0" t="-15618" r="-861" b="-17012"/>
            </a:stretch>
          </a:blipFill>
        </p:spPr>
      </p:sp>
      <p:sp>
        <p:nvSpPr>
          <p:cNvPr name="TextBox 7" id="7"/>
          <p:cNvSpPr txBox="true"/>
          <p:nvPr/>
        </p:nvSpPr>
        <p:spPr>
          <a:xfrm rot="0">
            <a:off x="2217133" y="1327769"/>
            <a:ext cx="5093096" cy="1024890"/>
          </a:xfrm>
          <a:prstGeom prst="rect">
            <a:avLst/>
          </a:prstGeom>
        </p:spPr>
        <p:txBody>
          <a:bodyPr anchor="t" rtlCol="false" tIns="0" lIns="0" bIns="0" rIns="0">
            <a:spAutoFit/>
          </a:bodyPr>
          <a:lstStyle/>
          <a:p>
            <a:pPr algn="l">
              <a:lnSpc>
                <a:spcPts val="7079"/>
              </a:lnSpc>
            </a:pPr>
            <a:r>
              <a:rPr lang="en-US" sz="5999" b="true">
                <a:solidFill>
                  <a:srgbClr val="3D5871"/>
                </a:solidFill>
                <a:latin typeface="DIN Next Bold"/>
                <a:ea typeface="DIN Next Bold"/>
                <a:cs typeface="DIN Next Bold"/>
                <a:sym typeface="DIN Next Bold"/>
              </a:rPr>
              <a:t> PENGENALAN</a:t>
            </a:r>
          </a:p>
        </p:txBody>
      </p:sp>
      <p:sp>
        <p:nvSpPr>
          <p:cNvPr name="TextBox 8" id="8"/>
          <p:cNvSpPr txBox="true"/>
          <p:nvPr/>
        </p:nvSpPr>
        <p:spPr>
          <a:xfrm rot="0">
            <a:off x="1247060" y="2742854"/>
            <a:ext cx="11275768" cy="2854833"/>
          </a:xfrm>
          <a:prstGeom prst="rect">
            <a:avLst/>
          </a:prstGeom>
        </p:spPr>
        <p:txBody>
          <a:bodyPr anchor="t" rtlCol="false" tIns="0" lIns="0" bIns="0" rIns="0">
            <a:spAutoFit/>
          </a:bodyPr>
          <a:lstStyle/>
          <a:p>
            <a:pPr algn="l" marL="582930" indent="-291465" lvl="1">
              <a:lnSpc>
                <a:spcPts val="3186"/>
              </a:lnSpc>
              <a:buFont typeface="Arial"/>
              <a:buChar char="•"/>
            </a:pPr>
            <a:r>
              <a:rPr lang="en-US" sz="2700">
                <a:solidFill>
                  <a:srgbClr val="55676D"/>
                </a:solidFill>
                <a:latin typeface="DIN Next"/>
                <a:ea typeface="DIN Next"/>
                <a:cs typeface="DIN Next"/>
                <a:sym typeface="DIN Next"/>
              </a:rPr>
              <a:t>Projek ini merupakan sistem automotif yang menggabungkan lampu hadapan automat</a:t>
            </a:r>
            <a:r>
              <a:rPr lang="en-US" sz="2700">
                <a:solidFill>
                  <a:srgbClr val="55676D"/>
                </a:solidFill>
                <a:latin typeface="DIN Next"/>
                <a:ea typeface="DIN Next"/>
                <a:cs typeface="DIN Next"/>
                <a:sym typeface="DIN Next"/>
              </a:rPr>
              <a:t>ik dan sistem wiper menggunakan Arduino.</a:t>
            </a:r>
          </a:p>
          <a:p>
            <a:pPr algn="l" marL="582930" indent="-291465" lvl="1">
              <a:lnSpc>
                <a:spcPts val="3186"/>
              </a:lnSpc>
              <a:buFont typeface="Arial"/>
              <a:buChar char="•"/>
            </a:pPr>
            <a:r>
              <a:rPr lang="en-US" sz="2700">
                <a:solidFill>
                  <a:srgbClr val="55676D"/>
                </a:solidFill>
                <a:latin typeface="DIN Next"/>
                <a:ea typeface="DIN Next"/>
                <a:cs typeface="DIN Next"/>
                <a:sym typeface="DIN Next"/>
              </a:rPr>
              <a:t>Sistem headlamp menggunakan LDR (Light Dependent Resistor) untuk mengesan tahap pencahayaan persekitaran. Apabila keadaan menjadi gelap, lampu hadapan akan dihidupkan secara automatik.</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Sistem wiper pula digunakan untuk membantu pemanduan ketika hujan dengan mengawal pergerakan wiper secara automatik.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8333" t="-23232" r="-2272" b="-36746"/>
            </a:stretch>
          </a:blipFill>
        </p:spPr>
      </p:sp>
      <p:sp>
        <p:nvSpPr>
          <p:cNvPr name="Freeform 3" id="3"/>
          <p:cNvSpPr/>
          <p:nvPr/>
        </p:nvSpPr>
        <p:spPr>
          <a:xfrm flipH="false" flipV="false" rot="0">
            <a:off x="1028700" y="615331"/>
            <a:ext cx="4114800" cy="826739"/>
          </a:xfrm>
          <a:custGeom>
            <a:avLst/>
            <a:gdLst/>
            <a:ahLst/>
            <a:cxnLst/>
            <a:rect r="r" b="b" t="t" l="l"/>
            <a:pathLst>
              <a:path h="826739" w="4114800">
                <a:moveTo>
                  <a:pt x="0" y="0"/>
                </a:moveTo>
                <a:lnTo>
                  <a:pt x="4114800" y="0"/>
                </a:lnTo>
                <a:lnTo>
                  <a:pt x="4114800" y="826738"/>
                </a:lnTo>
                <a:lnTo>
                  <a:pt x="0" y="826738"/>
                </a:lnTo>
                <a:lnTo>
                  <a:pt x="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sp>
        <p:nvSpPr>
          <p:cNvPr name="Freeform 4" id="4"/>
          <p:cNvSpPr/>
          <p:nvPr/>
        </p:nvSpPr>
        <p:spPr>
          <a:xfrm flipH="true" flipV="false" rot="0">
            <a:off x="5272698" y="6884796"/>
            <a:ext cx="13316219" cy="3578734"/>
          </a:xfrm>
          <a:custGeom>
            <a:avLst/>
            <a:gdLst/>
            <a:ahLst/>
            <a:cxnLst/>
            <a:rect r="r" b="b" t="t" l="l"/>
            <a:pathLst>
              <a:path h="3578734" w="13316219">
                <a:moveTo>
                  <a:pt x="13316219" y="0"/>
                </a:moveTo>
                <a:lnTo>
                  <a:pt x="0" y="0"/>
                </a:lnTo>
                <a:lnTo>
                  <a:pt x="0" y="3578734"/>
                </a:lnTo>
                <a:lnTo>
                  <a:pt x="13316219" y="3578734"/>
                </a:lnTo>
                <a:lnTo>
                  <a:pt x="13316219"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5" id="5"/>
          <p:cNvGrpSpPr/>
          <p:nvPr/>
        </p:nvGrpSpPr>
        <p:grpSpPr>
          <a:xfrm rot="0">
            <a:off x="4001106" y="10044900"/>
            <a:ext cx="1860164" cy="484200"/>
            <a:chOff x="0" y="0"/>
            <a:chExt cx="812800" cy="211572"/>
          </a:xfrm>
        </p:grpSpPr>
        <p:sp>
          <p:nvSpPr>
            <p:cNvPr name="Freeform 6" id="6"/>
            <p:cNvSpPr/>
            <p:nvPr/>
          </p:nvSpPr>
          <p:spPr>
            <a:xfrm flipH="false" flipV="false" rot="0">
              <a:off x="0" y="0"/>
              <a:ext cx="812800" cy="211572"/>
            </a:xfrm>
            <a:custGeom>
              <a:avLst/>
              <a:gdLst/>
              <a:ahLst/>
              <a:cxnLst/>
              <a:rect r="r" b="b" t="t" l="l"/>
              <a:pathLst>
                <a:path h="211572" w="812800">
                  <a:moveTo>
                    <a:pt x="203200" y="0"/>
                  </a:moveTo>
                  <a:lnTo>
                    <a:pt x="812800" y="0"/>
                  </a:lnTo>
                  <a:lnTo>
                    <a:pt x="609600" y="211572"/>
                  </a:lnTo>
                  <a:lnTo>
                    <a:pt x="0" y="211572"/>
                  </a:lnTo>
                  <a:lnTo>
                    <a:pt x="203200" y="0"/>
                  </a:lnTo>
                  <a:close/>
                </a:path>
              </a:pathLst>
            </a:custGeom>
            <a:solidFill>
              <a:srgbClr val="3D5871"/>
            </a:solidFill>
          </p:spPr>
        </p:sp>
        <p:sp>
          <p:nvSpPr>
            <p:cNvPr name="TextBox 7" id="7"/>
            <p:cNvSpPr txBox="true"/>
            <p:nvPr/>
          </p:nvSpPr>
          <p:spPr>
            <a:xfrm>
              <a:off x="101600" y="-38100"/>
              <a:ext cx="609600" cy="24967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745182" y="6884796"/>
            <a:ext cx="6515220" cy="3402204"/>
          </a:xfrm>
          <a:custGeom>
            <a:avLst/>
            <a:gdLst/>
            <a:ahLst/>
            <a:cxnLst/>
            <a:rect r="r" b="b" t="t" l="l"/>
            <a:pathLst>
              <a:path h="3402204" w="6515220">
                <a:moveTo>
                  <a:pt x="0" y="0"/>
                </a:moveTo>
                <a:lnTo>
                  <a:pt x="6515221" y="0"/>
                </a:lnTo>
                <a:lnTo>
                  <a:pt x="6515221" y="3402204"/>
                </a:lnTo>
                <a:lnTo>
                  <a:pt x="0" y="3402204"/>
                </a:lnTo>
                <a:lnTo>
                  <a:pt x="0" y="0"/>
                </a:lnTo>
                <a:close/>
              </a:path>
            </a:pathLst>
          </a:custGeom>
          <a:blipFill>
            <a:blip r:embed="rId7"/>
            <a:stretch>
              <a:fillRect l="0" t="0" r="0" b="0"/>
            </a:stretch>
          </a:blipFill>
        </p:spPr>
      </p:sp>
      <p:sp>
        <p:nvSpPr>
          <p:cNvPr name="Freeform 9" id="9"/>
          <p:cNvSpPr/>
          <p:nvPr/>
        </p:nvSpPr>
        <p:spPr>
          <a:xfrm flipH="false" flipV="false" rot="0">
            <a:off x="13260403" y="6884796"/>
            <a:ext cx="5027597" cy="3351732"/>
          </a:xfrm>
          <a:custGeom>
            <a:avLst/>
            <a:gdLst/>
            <a:ahLst/>
            <a:cxnLst/>
            <a:rect r="r" b="b" t="t" l="l"/>
            <a:pathLst>
              <a:path h="3351732" w="5027597">
                <a:moveTo>
                  <a:pt x="0" y="0"/>
                </a:moveTo>
                <a:lnTo>
                  <a:pt x="5027597" y="0"/>
                </a:lnTo>
                <a:lnTo>
                  <a:pt x="5027597" y="3351732"/>
                </a:lnTo>
                <a:lnTo>
                  <a:pt x="0" y="3351732"/>
                </a:lnTo>
                <a:lnTo>
                  <a:pt x="0" y="0"/>
                </a:lnTo>
                <a:close/>
              </a:path>
            </a:pathLst>
          </a:custGeom>
          <a:blipFill>
            <a:blip r:embed="rId8"/>
            <a:stretch>
              <a:fillRect l="0" t="0" r="0" b="0"/>
            </a:stretch>
          </a:blipFill>
        </p:spPr>
      </p:sp>
      <p:sp>
        <p:nvSpPr>
          <p:cNvPr name="Freeform 10" id="10"/>
          <p:cNvSpPr/>
          <p:nvPr/>
        </p:nvSpPr>
        <p:spPr>
          <a:xfrm flipH="false" flipV="false" rot="0">
            <a:off x="14418769" y="909847"/>
            <a:ext cx="4170148" cy="4233653"/>
          </a:xfrm>
          <a:custGeom>
            <a:avLst/>
            <a:gdLst/>
            <a:ahLst/>
            <a:cxnLst/>
            <a:rect r="r" b="b" t="t" l="l"/>
            <a:pathLst>
              <a:path h="4233653" w="4170148">
                <a:moveTo>
                  <a:pt x="0" y="0"/>
                </a:moveTo>
                <a:lnTo>
                  <a:pt x="4170148" y="0"/>
                </a:lnTo>
                <a:lnTo>
                  <a:pt x="4170148" y="4233653"/>
                </a:lnTo>
                <a:lnTo>
                  <a:pt x="0" y="4233653"/>
                </a:lnTo>
                <a:lnTo>
                  <a:pt x="0" y="0"/>
                </a:lnTo>
                <a:close/>
              </a:path>
            </a:pathLst>
          </a:custGeom>
          <a:blipFill>
            <a:blip r:embed="rId9"/>
            <a:stretch>
              <a:fillRect l="0" t="0" r="0" b="0"/>
            </a:stretch>
          </a:blipFill>
        </p:spPr>
      </p:sp>
      <p:sp>
        <p:nvSpPr>
          <p:cNvPr name="TextBox 11" id="11"/>
          <p:cNvSpPr txBox="true"/>
          <p:nvPr/>
        </p:nvSpPr>
        <p:spPr>
          <a:xfrm rot="0">
            <a:off x="4359164" y="914400"/>
            <a:ext cx="9569672" cy="1024890"/>
          </a:xfrm>
          <a:prstGeom prst="rect">
            <a:avLst/>
          </a:prstGeom>
        </p:spPr>
        <p:txBody>
          <a:bodyPr anchor="t" rtlCol="false" tIns="0" lIns="0" bIns="0" rIns="0">
            <a:spAutoFit/>
          </a:bodyPr>
          <a:lstStyle/>
          <a:p>
            <a:pPr algn="ctr">
              <a:lnSpc>
                <a:spcPts val="7079"/>
              </a:lnSpc>
            </a:pPr>
            <a:r>
              <a:rPr lang="en-US" sz="5999" b="true">
                <a:solidFill>
                  <a:srgbClr val="3D5871"/>
                </a:solidFill>
                <a:latin typeface="DIN Next Bold"/>
                <a:ea typeface="DIN Next Bold"/>
                <a:cs typeface="DIN Next Bold"/>
                <a:sym typeface="DIN Next Bold"/>
              </a:rPr>
              <a:t> PERNYATAAN</a:t>
            </a:r>
            <a:r>
              <a:rPr lang="en-US" b="true" sz="5999">
                <a:solidFill>
                  <a:srgbClr val="3D5871"/>
                </a:solidFill>
                <a:latin typeface="DIN Next Bold"/>
                <a:ea typeface="DIN Next Bold"/>
                <a:cs typeface="DIN Next Bold"/>
                <a:sym typeface="DIN Next Bold"/>
              </a:rPr>
              <a:t> MASALAH</a:t>
            </a:r>
          </a:p>
        </p:txBody>
      </p:sp>
      <p:sp>
        <p:nvSpPr>
          <p:cNvPr name="TextBox 12" id="12"/>
          <p:cNvSpPr txBox="true"/>
          <p:nvPr/>
        </p:nvSpPr>
        <p:spPr>
          <a:xfrm rot="0">
            <a:off x="4409288" y="2560764"/>
            <a:ext cx="9519548" cy="3654933"/>
          </a:xfrm>
          <a:prstGeom prst="rect">
            <a:avLst/>
          </a:prstGeom>
        </p:spPr>
        <p:txBody>
          <a:bodyPr anchor="t" rtlCol="false" tIns="0" lIns="0" bIns="0" rIns="0">
            <a:spAutoFit/>
          </a:bodyPr>
          <a:lstStyle/>
          <a:p>
            <a:pPr algn="l" marL="582932" indent="-291466" lvl="1">
              <a:lnSpc>
                <a:spcPts val="3186"/>
              </a:lnSpc>
              <a:buFont typeface="Arial"/>
              <a:buChar char="•"/>
            </a:pPr>
            <a:r>
              <a:rPr lang="en-US" sz="2700">
                <a:solidFill>
                  <a:srgbClr val="55676D"/>
                </a:solidFill>
                <a:latin typeface="DIN Next"/>
                <a:ea typeface="DIN Next"/>
                <a:cs typeface="DIN Next"/>
                <a:sym typeface="DIN Next"/>
              </a:rPr>
              <a:t>Pemandu perlu menghidupkan lampu hadapan secara manual.</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Pemandu mungkin terlupa menyalakan lampu apabila keadaan</a:t>
            </a:r>
            <a:r>
              <a:rPr lang="en-US" sz="2700">
                <a:solidFill>
                  <a:srgbClr val="55676D"/>
                </a:solidFill>
                <a:latin typeface="DIN Next"/>
                <a:ea typeface="DIN Next"/>
                <a:cs typeface="DIN Next"/>
                <a:sym typeface="DIN Next"/>
              </a:rPr>
              <a:t> gelap.</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Wiper juga perlu dikawal secara manual ketika hujan.</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Kawalan manual boleh mengganggu tumpuan pemandu.</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Sistem automatik dapat membantu meningkatkan kemudahan dan keselamatan pemanduan.</a:t>
            </a:r>
          </a:p>
          <a:p>
            <a:pPr algn="l">
              <a:lnSpc>
                <a:spcPts val="3186"/>
              </a:lnSpc>
            </a:pPr>
          </a:p>
        </p:txBody>
      </p:sp>
      <p:sp>
        <p:nvSpPr>
          <p:cNvPr name="Freeform 13" id="13"/>
          <p:cNvSpPr/>
          <p:nvPr/>
        </p:nvSpPr>
        <p:spPr>
          <a:xfrm flipH="false" flipV="false" rot="0">
            <a:off x="239140" y="1028700"/>
            <a:ext cx="4170148" cy="4233653"/>
          </a:xfrm>
          <a:custGeom>
            <a:avLst/>
            <a:gdLst/>
            <a:ahLst/>
            <a:cxnLst/>
            <a:rect r="r" b="b" t="t" l="l"/>
            <a:pathLst>
              <a:path h="4233653" w="4170148">
                <a:moveTo>
                  <a:pt x="0" y="0"/>
                </a:moveTo>
                <a:lnTo>
                  <a:pt x="4170148" y="0"/>
                </a:lnTo>
                <a:lnTo>
                  <a:pt x="4170148" y="4233653"/>
                </a:lnTo>
                <a:lnTo>
                  <a:pt x="0" y="4233653"/>
                </a:lnTo>
                <a:lnTo>
                  <a:pt x="0" y="0"/>
                </a:lnTo>
                <a:close/>
              </a:path>
            </a:pathLst>
          </a:custGeom>
          <a:blipFill>
            <a:blip r:embed="rId9"/>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0473" r="-31580" b="-19235"/>
            </a:stretch>
          </a:blipFill>
        </p:spPr>
      </p:sp>
      <p:sp>
        <p:nvSpPr>
          <p:cNvPr name="Freeform 3" id="3"/>
          <p:cNvSpPr/>
          <p:nvPr/>
        </p:nvSpPr>
        <p:spPr>
          <a:xfrm flipH="true" flipV="false" rot="0">
            <a:off x="13508779"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grpSp>
        <p:nvGrpSpPr>
          <p:cNvPr name="Group 4" id="4"/>
          <p:cNvGrpSpPr/>
          <p:nvPr/>
        </p:nvGrpSpPr>
        <p:grpSpPr>
          <a:xfrm rot="0">
            <a:off x="-405791" y="9486900"/>
            <a:ext cx="12715897" cy="1445680"/>
            <a:chOff x="0" y="0"/>
            <a:chExt cx="16954530" cy="1927573"/>
          </a:xfrm>
        </p:grpSpPr>
        <p:sp>
          <p:nvSpPr>
            <p:cNvPr name="Freeform 5" id="5"/>
            <p:cNvSpPr/>
            <p:nvPr/>
          </p:nvSpPr>
          <p:spPr>
            <a:xfrm flipH="true" flipV="false" rot="0">
              <a:off x="0" y="0"/>
              <a:ext cx="9753600" cy="1219200"/>
            </a:xfrm>
            <a:custGeom>
              <a:avLst/>
              <a:gdLst/>
              <a:ahLst/>
              <a:cxnLst/>
              <a:rect r="r" b="b" t="t" l="l"/>
              <a:pathLst>
                <a:path h="1219200" w="9753600">
                  <a:moveTo>
                    <a:pt x="9753600" y="0"/>
                  </a:moveTo>
                  <a:lnTo>
                    <a:pt x="0" y="0"/>
                  </a:lnTo>
                  <a:lnTo>
                    <a:pt x="0" y="1219200"/>
                  </a:lnTo>
                  <a:lnTo>
                    <a:pt x="9753600" y="1219200"/>
                  </a:lnTo>
                  <a:lnTo>
                    <a:pt x="975360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4353870" y="798178"/>
              <a:ext cx="12600659" cy="1129395"/>
              <a:chOff x="0" y="0"/>
              <a:chExt cx="4507680" cy="404023"/>
            </a:xfrm>
          </p:grpSpPr>
          <p:sp>
            <p:nvSpPr>
              <p:cNvPr name="Freeform 7" id="7"/>
              <p:cNvSpPr/>
              <p:nvPr/>
            </p:nvSpPr>
            <p:spPr>
              <a:xfrm flipH="false" flipV="false" rot="0">
                <a:off x="0" y="0"/>
                <a:ext cx="4507680" cy="404023"/>
              </a:xfrm>
              <a:custGeom>
                <a:avLst/>
                <a:gdLst/>
                <a:ahLst/>
                <a:cxnLst/>
                <a:rect r="r" b="b" t="t" l="l"/>
                <a:pathLst>
                  <a:path h="404023" w="4507680">
                    <a:moveTo>
                      <a:pt x="203200" y="0"/>
                    </a:moveTo>
                    <a:lnTo>
                      <a:pt x="4507680" y="0"/>
                    </a:lnTo>
                    <a:lnTo>
                      <a:pt x="4304480" y="404023"/>
                    </a:lnTo>
                    <a:lnTo>
                      <a:pt x="0" y="404023"/>
                    </a:lnTo>
                    <a:lnTo>
                      <a:pt x="203200" y="0"/>
                    </a:lnTo>
                    <a:close/>
                  </a:path>
                </a:pathLst>
              </a:custGeom>
              <a:solidFill>
                <a:srgbClr val="3D5871"/>
              </a:solidFill>
            </p:spPr>
          </p:sp>
          <p:sp>
            <p:nvSpPr>
              <p:cNvPr name="TextBox 8" id="8"/>
              <p:cNvSpPr txBox="true"/>
              <p:nvPr/>
            </p:nvSpPr>
            <p:spPr>
              <a:xfrm>
                <a:off x="101600" y="-38100"/>
                <a:ext cx="4304480" cy="44212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17023138" y="3639652"/>
            <a:ext cx="1200881" cy="1233254"/>
          </a:xfrm>
          <a:custGeom>
            <a:avLst/>
            <a:gdLst/>
            <a:ahLst/>
            <a:cxnLst/>
            <a:rect r="r" b="b" t="t" l="l"/>
            <a:pathLst>
              <a:path h="1233254" w="1200881">
                <a:moveTo>
                  <a:pt x="0" y="0"/>
                </a:moveTo>
                <a:lnTo>
                  <a:pt x="1200881" y="0"/>
                </a:lnTo>
                <a:lnTo>
                  <a:pt x="1200881" y="1233254"/>
                </a:lnTo>
                <a:lnTo>
                  <a:pt x="0" y="12332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0" id="10"/>
          <p:cNvSpPr/>
          <p:nvPr/>
        </p:nvSpPr>
        <p:spPr>
          <a:xfrm flipH="false" flipV="false" rot="0">
            <a:off x="15326439" y="3639652"/>
            <a:ext cx="832447" cy="1233254"/>
          </a:xfrm>
          <a:custGeom>
            <a:avLst/>
            <a:gdLst/>
            <a:ahLst/>
            <a:cxnLst/>
            <a:rect r="r" b="b" t="t" l="l"/>
            <a:pathLst>
              <a:path h="1233254" w="832447">
                <a:moveTo>
                  <a:pt x="0" y="0"/>
                </a:moveTo>
                <a:lnTo>
                  <a:pt x="832447" y="0"/>
                </a:lnTo>
                <a:lnTo>
                  <a:pt x="832447" y="1233254"/>
                </a:lnTo>
                <a:lnTo>
                  <a:pt x="0" y="123325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1" id="11"/>
          <p:cNvSpPr/>
          <p:nvPr/>
        </p:nvSpPr>
        <p:spPr>
          <a:xfrm flipH="false" flipV="false" rot="0">
            <a:off x="13456675" y="6858037"/>
            <a:ext cx="4767344" cy="3170284"/>
          </a:xfrm>
          <a:custGeom>
            <a:avLst/>
            <a:gdLst/>
            <a:ahLst/>
            <a:cxnLst/>
            <a:rect r="r" b="b" t="t" l="l"/>
            <a:pathLst>
              <a:path h="3170284" w="4767344">
                <a:moveTo>
                  <a:pt x="0" y="0"/>
                </a:moveTo>
                <a:lnTo>
                  <a:pt x="4767344" y="0"/>
                </a:lnTo>
                <a:lnTo>
                  <a:pt x="4767344" y="3170284"/>
                </a:lnTo>
                <a:lnTo>
                  <a:pt x="0" y="3170284"/>
                </a:lnTo>
                <a:lnTo>
                  <a:pt x="0" y="0"/>
                </a:lnTo>
                <a:close/>
              </a:path>
            </a:pathLst>
          </a:custGeom>
          <a:blipFill>
            <a:blip r:embed="rId11"/>
            <a:stretch>
              <a:fillRect l="0" t="0" r="0" b="0"/>
            </a:stretch>
          </a:blipFill>
        </p:spPr>
      </p:sp>
      <p:sp>
        <p:nvSpPr>
          <p:cNvPr name="Freeform 12" id="12"/>
          <p:cNvSpPr/>
          <p:nvPr/>
        </p:nvSpPr>
        <p:spPr>
          <a:xfrm flipH="false" flipV="false" rot="0">
            <a:off x="0" y="6734447"/>
            <a:ext cx="5611122" cy="3170284"/>
          </a:xfrm>
          <a:custGeom>
            <a:avLst/>
            <a:gdLst/>
            <a:ahLst/>
            <a:cxnLst/>
            <a:rect r="r" b="b" t="t" l="l"/>
            <a:pathLst>
              <a:path h="3170284" w="5611122">
                <a:moveTo>
                  <a:pt x="0" y="0"/>
                </a:moveTo>
                <a:lnTo>
                  <a:pt x="5611122" y="0"/>
                </a:lnTo>
                <a:lnTo>
                  <a:pt x="5611122" y="3170284"/>
                </a:lnTo>
                <a:lnTo>
                  <a:pt x="0" y="3170284"/>
                </a:lnTo>
                <a:lnTo>
                  <a:pt x="0" y="0"/>
                </a:lnTo>
                <a:close/>
              </a:path>
            </a:pathLst>
          </a:custGeom>
          <a:blipFill>
            <a:blip r:embed="rId12"/>
            <a:stretch>
              <a:fillRect l="0" t="0" r="0" b="0"/>
            </a:stretch>
          </a:blipFill>
        </p:spPr>
      </p:sp>
      <p:sp>
        <p:nvSpPr>
          <p:cNvPr name="TextBox 13" id="13"/>
          <p:cNvSpPr txBox="true"/>
          <p:nvPr/>
        </p:nvSpPr>
        <p:spPr>
          <a:xfrm rot="0">
            <a:off x="5252463" y="1147232"/>
            <a:ext cx="7783074" cy="1024890"/>
          </a:xfrm>
          <a:prstGeom prst="rect">
            <a:avLst/>
          </a:prstGeom>
        </p:spPr>
        <p:txBody>
          <a:bodyPr anchor="t" rtlCol="false" tIns="0" lIns="0" bIns="0" rIns="0">
            <a:spAutoFit/>
          </a:bodyPr>
          <a:lstStyle/>
          <a:p>
            <a:pPr algn="ctr">
              <a:lnSpc>
                <a:spcPts val="7080"/>
              </a:lnSpc>
            </a:pPr>
            <a:r>
              <a:rPr lang="en-US" sz="6000" b="true">
                <a:solidFill>
                  <a:srgbClr val="3D5871"/>
                </a:solidFill>
                <a:latin typeface="DIN Next Bold"/>
                <a:ea typeface="DIN Next Bold"/>
                <a:cs typeface="DIN Next Bold"/>
                <a:sym typeface="DIN Next Bold"/>
              </a:rPr>
              <a:t> OBJEKTIF PROJEK</a:t>
            </a:r>
            <a:r>
              <a:rPr lang="en-US" b="true" sz="6000">
                <a:solidFill>
                  <a:srgbClr val="3D5871"/>
                </a:solidFill>
                <a:latin typeface="DIN Next Bold"/>
                <a:ea typeface="DIN Next Bold"/>
                <a:cs typeface="DIN Next Bold"/>
                <a:sym typeface="DIN Next Bold"/>
              </a:rPr>
              <a:t> 🎯</a:t>
            </a:r>
          </a:p>
        </p:txBody>
      </p:sp>
      <p:sp>
        <p:nvSpPr>
          <p:cNvPr name="TextBox 14" id="14"/>
          <p:cNvSpPr txBox="true"/>
          <p:nvPr/>
        </p:nvSpPr>
        <p:spPr>
          <a:xfrm rot="0">
            <a:off x="4113246" y="2821602"/>
            <a:ext cx="10061509" cy="3654933"/>
          </a:xfrm>
          <a:prstGeom prst="rect">
            <a:avLst/>
          </a:prstGeom>
        </p:spPr>
        <p:txBody>
          <a:bodyPr anchor="t" rtlCol="false" tIns="0" lIns="0" bIns="0" rIns="0">
            <a:spAutoFit/>
          </a:bodyPr>
          <a:lstStyle/>
          <a:p>
            <a:pPr algn="just">
              <a:lnSpc>
                <a:spcPts val="3186"/>
              </a:lnSpc>
            </a:pPr>
            <a:r>
              <a:rPr lang="en-US" sz="2700">
                <a:solidFill>
                  <a:srgbClr val="55676D"/>
                </a:solidFill>
                <a:latin typeface="DIN Next"/>
                <a:ea typeface="DIN Next"/>
                <a:cs typeface="DIN Next"/>
                <a:sym typeface="DIN Next"/>
              </a:rPr>
              <a:t>Objektif projek adalah:</a:t>
            </a:r>
          </a:p>
          <a:p>
            <a:pPr algn="just" marL="582932" indent="-291466" lvl="1">
              <a:lnSpc>
                <a:spcPts val="3186"/>
              </a:lnSpc>
              <a:buAutoNum type="arabicPeriod" startAt="1"/>
            </a:pPr>
            <a:r>
              <a:rPr lang="en-US" sz="2700">
                <a:solidFill>
                  <a:srgbClr val="55676D"/>
                </a:solidFill>
                <a:latin typeface="DIN Next"/>
                <a:ea typeface="DIN Next"/>
                <a:cs typeface="DIN Next"/>
                <a:sym typeface="DIN Next"/>
              </a:rPr>
              <a:t>Membina sistem lampu hadapan automatik menggunakan Arduino.</a:t>
            </a:r>
          </a:p>
          <a:p>
            <a:pPr algn="just" marL="582932" indent="-291466" lvl="1">
              <a:lnSpc>
                <a:spcPts val="3186"/>
              </a:lnSpc>
              <a:buAutoNum type="arabicPeriod" startAt="1"/>
            </a:pPr>
            <a:r>
              <a:rPr lang="en-US" sz="2700">
                <a:solidFill>
                  <a:srgbClr val="55676D"/>
                </a:solidFill>
                <a:latin typeface="DIN Next"/>
                <a:ea typeface="DIN Next"/>
                <a:cs typeface="DIN Next"/>
                <a:sym typeface="DIN Next"/>
              </a:rPr>
              <a:t>Menggunakan LDR untuk mengesan keadaan terang dan gelap.</a:t>
            </a:r>
          </a:p>
          <a:p>
            <a:pPr algn="just" marL="582932" indent="-291466" lvl="1">
              <a:lnSpc>
                <a:spcPts val="3186"/>
              </a:lnSpc>
              <a:buAutoNum type="arabicPeriod" startAt="1"/>
            </a:pPr>
            <a:r>
              <a:rPr lang="en-US" sz="2700">
                <a:solidFill>
                  <a:srgbClr val="55676D"/>
                </a:solidFill>
                <a:latin typeface="DIN Next"/>
                <a:ea typeface="DIN Next"/>
                <a:cs typeface="DIN Next"/>
                <a:sym typeface="DIN Next"/>
              </a:rPr>
              <a:t>Mengawal lampu hadapan berdasarkan bacaan sensor.</a:t>
            </a:r>
          </a:p>
          <a:p>
            <a:pPr algn="just" marL="582932" indent="-291466" lvl="1">
              <a:lnSpc>
                <a:spcPts val="3186"/>
              </a:lnSpc>
              <a:buAutoNum type="arabicPeriod" startAt="1"/>
            </a:pPr>
            <a:r>
              <a:rPr lang="en-US" sz="2700">
                <a:solidFill>
                  <a:srgbClr val="55676D"/>
                </a:solidFill>
                <a:latin typeface="DIN Next"/>
                <a:ea typeface="DIN Next"/>
                <a:cs typeface="DIN Next"/>
                <a:sym typeface="DIN Next"/>
              </a:rPr>
              <a:t>Mengha</a:t>
            </a:r>
            <a:r>
              <a:rPr lang="en-US" sz="2700">
                <a:solidFill>
                  <a:srgbClr val="55676D"/>
                </a:solidFill>
                <a:latin typeface="DIN Next"/>
                <a:ea typeface="DIN Next"/>
                <a:cs typeface="DIN Next"/>
                <a:sym typeface="DIN Next"/>
              </a:rPr>
              <a:t>silkan sistem wiper yang dapat berfungsi secara automatik.</a:t>
            </a:r>
          </a:p>
          <a:p>
            <a:pPr algn="just" marL="582932" indent="-291466" lvl="1">
              <a:lnSpc>
                <a:spcPts val="3186"/>
              </a:lnSpc>
              <a:buAutoNum type="arabicPeriod" startAt="1"/>
            </a:pPr>
            <a:r>
              <a:rPr lang="en-US" sz="2700">
                <a:solidFill>
                  <a:srgbClr val="55676D"/>
                </a:solidFill>
                <a:latin typeface="DIN Next"/>
                <a:ea typeface="DIN Next"/>
                <a:cs typeface="DIN Next"/>
                <a:sym typeface="DIN Next"/>
              </a:rPr>
              <a:t>Meningkatkan keselesaan dan keselamatan pengguna kenderaan.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8333" t="-23232" r="-2272" b="-36746"/>
            </a:stretch>
          </a:blipFill>
        </p:spPr>
      </p:sp>
      <p:sp>
        <p:nvSpPr>
          <p:cNvPr name="Freeform 3" id="3"/>
          <p:cNvSpPr/>
          <p:nvPr/>
        </p:nvSpPr>
        <p:spPr>
          <a:xfrm flipH="false" flipV="false" rot="0">
            <a:off x="1028700" y="615331"/>
            <a:ext cx="4114800" cy="826739"/>
          </a:xfrm>
          <a:custGeom>
            <a:avLst/>
            <a:gdLst/>
            <a:ahLst/>
            <a:cxnLst/>
            <a:rect r="r" b="b" t="t" l="l"/>
            <a:pathLst>
              <a:path h="826739" w="4114800">
                <a:moveTo>
                  <a:pt x="0" y="0"/>
                </a:moveTo>
                <a:lnTo>
                  <a:pt x="4114800" y="0"/>
                </a:lnTo>
                <a:lnTo>
                  <a:pt x="4114800" y="826738"/>
                </a:lnTo>
                <a:lnTo>
                  <a:pt x="0" y="826738"/>
                </a:lnTo>
                <a:lnTo>
                  <a:pt x="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sp>
        <p:nvSpPr>
          <p:cNvPr name="Freeform 4" id="4"/>
          <p:cNvSpPr/>
          <p:nvPr/>
        </p:nvSpPr>
        <p:spPr>
          <a:xfrm flipH="true" flipV="false" rot="0">
            <a:off x="5346569" y="7269907"/>
            <a:ext cx="12941431" cy="3478010"/>
          </a:xfrm>
          <a:custGeom>
            <a:avLst/>
            <a:gdLst/>
            <a:ahLst/>
            <a:cxnLst/>
            <a:rect r="r" b="b" t="t" l="l"/>
            <a:pathLst>
              <a:path h="3478010" w="12941431">
                <a:moveTo>
                  <a:pt x="12941431" y="0"/>
                </a:moveTo>
                <a:lnTo>
                  <a:pt x="0" y="0"/>
                </a:lnTo>
                <a:lnTo>
                  <a:pt x="0" y="3478010"/>
                </a:lnTo>
                <a:lnTo>
                  <a:pt x="12941431" y="3478010"/>
                </a:lnTo>
                <a:lnTo>
                  <a:pt x="12941431"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5" id="5"/>
          <p:cNvGrpSpPr/>
          <p:nvPr/>
        </p:nvGrpSpPr>
        <p:grpSpPr>
          <a:xfrm rot="0">
            <a:off x="4001106" y="10044900"/>
            <a:ext cx="1860164" cy="484200"/>
            <a:chOff x="0" y="0"/>
            <a:chExt cx="812800" cy="211572"/>
          </a:xfrm>
        </p:grpSpPr>
        <p:sp>
          <p:nvSpPr>
            <p:cNvPr name="Freeform 6" id="6"/>
            <p:cNvSpPr/>
            <p:nvPr/>
          </p:nvSpPr>
          <p:spPr>
            <a:xfrm flipH="false" flipV="false" rot="0">
              <a:off x="0" y="0"/>
              <a:ext cx="812800" cy="211572"/>
            </a:xfrm>
            <a:custGeom>
              <a:avLst/>
              <a:gdLst/>
              <a:ahLst/>
              <a:cxnLst/>
              <a:rect r="r" b="b" t="t" l="l"/>
              <a:pathLst>
                <a:path h="211572" w="812800">
                  <a:moveTo>
                    <a:pt x="203200" y="0"/>
                  </a:moveTo>
                  <a:lnTo>
                    <a:pt x="812800" y="0"/>
                  </a:lnTo>
                  <a:lnTo>
                    <a:pt x="609600" y="211572"/>
                  </a:lnTo>
                  <a:lnTo>
                    <a:pt x="0" y="211572"/>
                  </a:lnTo>
                  <a:lnTo>
                    <a:pt x="203200" y="0"/>
                  </a:lnTo>
                  <a:close/>
                </a:path>
              </a:pathLst>
            </a:custGeom>
            <a:solidFill>
              <a:srgbClr val="3D5871"/>
            </a:solidFill>
          </p:spPr>
        </p:sp>
        <p:sp>
          <p:nvSpPr>
            <p:cNvPr name="TextBox 7" id="7"/>
            <p:cNvSpPr txBox="true"/>
            <p:nvPr/>
          </p:nvSpPr>
          <p:spPr>
            <a:xfrm>
              <a:off x="101600" y="-38100"/>
              <a:ext cx="609600" cy="24967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1810220">
            <a:off x="13426027" y="1044398"/>
            <a:ext cx="4149823" cy="3278360"/>
          </a:xfrm>
          <a:custGeom>
            <a:avLst/>
            <a:gdLst/>
            <a:ahLst/>
            <a:cxnLst/>
            <a:rect r="r" b="b" t="t" l="l"/>
            <a:pathLst>
              <a:path h="3278360" w="4149823">
                <a:moveTo>
                  <a:pt x="0" y="0"/>
                </a:moveTo>
                <a:lnTo>
                  <a:pt x="4149823" y="0"/>
                </a:lnTo>
                <a:lnTo>
                  <a:pt x="4149823" y="3278360"/>
                </a:lnTo>
                <a:lnTo>
                  <a:pt x="0" y="3278360"/>
                </a:lnTo>
                <a:lnTo>
                  <a:pt x="0" y="0"/>
                </a:lnTo>
                <a:close/>
              </a:path>
            </a:pathLst>
          </a:custGeom>
          <a:blipFill>
            <a:blip r:embed="rId7"/>
            <a:stretch>
              <a:fillRect l="0" t="0" r="0" b="0"/>
            </a:stretch>
          </a:blipFill>
        </p:spPr>
      </p:sp>
      <p:sp>
        <p:nvSpPr>
          <p:cNvPr name="TextBox 9" id="9"/>
          <p:cNvSpPr txBox="true"/>
          <p:nvPr/>
        </p:nvSpPr>
        <p:spPr>
          <a:xfrm rot="0">
            <a:off x="4359164" y="1327769"/>
            <a:ext cx="9569672" cy="1024890"/>
          </a:xfrm>
          <a:prstGeom prst="rect">
            <a:avLst/>
          </a:prstGeom>
        </p:spPr>
        <p:txBody>
          <a:bodyPr anchor="t" rtlCol="false" tIns="0" lIns="0" bIns="0" rIns="0">
            <a:spAutoFit/>
          </a:bodyPr>
          <a:lstStyle/>
          <a:p>
            <a:pPr algn="ctr">
              <a:lnSpc>
                <a:spcPts val="7080"/>
              </a:lnSpc>
            </a:pPr>
            <a:r>
              <a:rPr lang="en-US" sz="6000" b="true">
                <a:solidFill>
                  <a:srgbClr val="3D5871"/>
                </a:solidFill>
                <a:latin typeface="DIN Next Bold"/>
                <a:ea typeface="DIN Next Bold"/>
                <a:cs typeface="DIN Next Bold"/>
                <a:sym typeface="DIN Next Bold"/>
              </a:rPr>
              <a:t>SKOP</a:t>
            </a:r>
            <a:r>
              <a:rPr lang="en-US" b="true" sz="6000">
                <a:solidFill>
                  <a:srgbClr val="3D5871"/>
                </a:solidFill>
                <a:latin typeface="DIN Next Bold"/>
                <a:ea typeface="DIN Next Bold"/>
                <a:cs typeface="DIN Next Bold"/>
                <a:sym typeface="DIN Next Bold"/>
              </a:rPr>
              <a:t> PROJEK</a:t>
            </a:r>
          </a:p>
        </p:txBody>
      </p:sp>
      <p:sp>
        <p:nvSpPr>
          <p:cNvPr name="TextBox 10" id="10"/>
          <p:cNvSpPr txBox="true"/>
          <p:nvPr/>
        </p:nvSpPr>
        <p:spPr>
          <a:xfrm rot="0">
            <a:off x="4117966" y="3462104"/>
            <a:ext cx="10022506" cy="3654933"/>
          </a:xfrm>
          <a:prstGeom prst="rect">
            <a:avLst/>
          </a:prstGeom>
        </p:spPr>
        <p:txBody>
          <a:bodyPr anchor="t" rtlCol="false" tIns="0" lIns="0" bIns="0" rIns="0">
            <a:spAutoFit/>
          </a:bodyPr>
          <a:lstStyle/>
          <a:p>
            <a:pPr algn="l">
              <a:lnSpc>
                <a:spcPts val="3186"/>
              </a:lnSpc>
            </a:pPr>
            <a:r>
              <a:rPr lang="en-US" sz="2700">
                <a:solidFill>
                  <a:srgbClr val="55676D"/>
                </a:solidFill>
                <a:latin typeface="DIN Next"/>
                <a:ea typeface="DIN Next"/>
                <a:cs typeface="DIN Next"/>
                <a:sym typeface="DIN Next"/>
              </a:rPr>
              <a:t>Skop projek ini merangkumi:</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Sistem menggunakan Arduino sebagai pengawal utama.</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LDR digunakan untuk mengesan tahap cahaya.</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Lampu ha</a:t>
            </a:r>
            <a:r>
              <a:rPr lang="en-US" sz="2700">
                <a:solidFill>
                  <a:srgbClr val="55676D"/>
                </a:solidFill>
                <a:latin typeface="DIN Next"/>
                <a:ea typeface="DIN Next"/>
                <a:cs typeface="DIN Next"/>
                <a:sym typeface="DIN Next"/>
              </a:rPr>
              <a:t>dapan akan menyala apabila keadaan gelap.</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Sistem mempunyai DRL LED dan lampu high/low beam.</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Sistem wiper digunakan</a:t>
            </a:r>
            <a:r>
              <a:rPr lang="en-US" sz="2700">
                <a:solidFill>
                  <a:srgbClr val="55676D"/>
                </a:solidFill>
                <a:latin typeface="DIN Next"/>
                <a:ea typeface="DIN Next"/>
                <a:cs typeface="DIN Next"/>
                <a:sym typeface="DIN Next"/>
              </a:rPr>
              <a:t> untuk membersihkan air pada cermin hadapan.</a:t>
            </a:r>
          </a:p>
          <a:p>
            <a:pPr algn="l" marL="582932" indent="-291466" lvl="1">
              <a:lnSpc>
                <a:spcPts val="3186"/>
              </a:lnSpc>
              <a:buFont typeface="Arial"/>
              <a:buChar char="•"/>
            </a:pPr>
            <a:r>
              <a:rPr lang="en-US" sz="2700">
                <a:solidFill>
                  <a:srgbClr val="55676D"/>
                </a:solidFill>
                <a:latin typeface="DIN Next"/>
                <a:ea typeface="DIN Next"/>
                <a:cs typeface="DIN Next"/>
                <a:sym typeface="DIN Next"/>
              </a:rPr>
              <a:t>Proj</a:t>
            </a:r>
            <a:r>
              <a:rPr lang="en-US" sz="2700">
                <a:solidFill>
                  <a:srgbClr val="55676D"/>
                </a:solidFill>
                <a:latin typeface="DIN Next"/>
                <a:ea typeface="DIN Next"/>
                <a:cs typeface="DIN Next"/>
                <a:sym typeface="DIN Next"/>
              </a:rPr>
              <a:t>ek dibina dalam bentuk model/prototaip sebelum diaplikasikan kepada sistem sebenar.</a:t>
            </a:r>
          </a:p>
        </p:txBody>
      </p:sp>
      <p:sp>
        <p:nvSpPr>
          <p:cNvPr name="Freeform 11" id="11"/>
          <p:cNvSpPr/>
          <p:nvPr/>
        </p:nvSpPr>
        <p:spPr>
          <a:xfrm flipH="false" flipV="false" rot="-2220834">
            <a:off x="424993" y="713479"/>
            <a:ext cx="4149823" cy="3278360"/>
          </a:xfrm>
          <a:custGeom>
            <a:avLst/>
            <a:gdLst/>
            <a:ahLst/>
            <a:cxnLst/>
            <a:rect r="r" b="b" t="t" l="l"/>
            <a:pathLst>
              <a:path h="3278360" w="4149823">
                <a:moveTo>
                  <a:pt x="0" y="0"/>
                </a:moveTo>
                <a:lnTo>
                  <a:pt x="4149823" y="0"/>
                </a:lnTo>
                <a:lnTo>
                  <a:pt x="4149823" y="3278361"/>
                </a:lnTo>
                <a:lnTo>
                  <a:pt x="0" y="3278361"/>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0473" r="-31580" b="-19235"/>
            </a:stretch>
          </a:blipFill>
        </p:spPr>
      </p:sp>
      <p:sp>
        <p:nvSpPr>
          <p:cNvPr name="Freeform 3" id="3"/>
          <p:cNvSpPr/>
          <p:nvPr/>
        </p:nvSpPr>
        <p:spPr>
          <a:xfrm flipH="true" flipV="false" rot="0">
            <a:off x="13508779"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grpSp>
        <p:nvGrpSpPr>
          <p:cNvPr name="Group 4" id="4"/>
          <p:cNvGrpSpPr/>
          <p:nvPr/>
        </p:nvGrpSpPr>
        <p:grpSpPr>
          <a:xfrm rot="0">
            <a:off x="-72698" y="8069580"/>
            <a:ext cx="12382805" cy="2863000"/>
            <a:chOff x="0" y="0"/>
            <a:chExt cx="16510407" cy="3817333"/>
          </a:xfrm>
        </p:grpSpPr>
        <p:sp>
          <p:nvSpPr>
            <p:cNvPr name="Freeform 5" id="5"/>
            <p:cNvSpPr/>
            <p:nvPr/>
          </p:nvSpPr>
          <p:spPr>
            <a:xfrm flipH="true" flipV="false" rot="0">
              <a:off x="0" y="0"/>
              <a:ext cx="9753600" cy="3169920"/>
            </a:xfrm>
            <a:custGeom>
              <a:avLst/>
              <a:gdLst/>
              <a:ahLst/>
              <a:cxnLst/>
              <a:rect r="r" b="b" t="t" l="l"/>
              <a:pathLst>
                <a:path h="3169920" w="9753600">
                  <a:moveTo>
                    <a:pt x="9753600" y="0"/>
                  </a:moveTo>
                  <a:lnTo>
                    <a:pt x="0" y="0"/>
                  </a:lnTo>
                  <a:lnTo>
                    <a:pt x="0" y="3169920"/>
                  </a:lnTo>
                  <a:lnTo>
                    <a:pt x="9753600" y="3169920"/>
                  </a:lnTo>
                  <a:lnTo>
                    <a:pt x="975360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3909747" y="2687938"/>
              <a:ext cx="12600659" cy="1129395"/>
              <a:chOff x="0" y="0"/>
              <a:chExt cx="4507680" cy="404023"/>
            </a:xfrm>
          </p:grpSpPr>
          <p:sp>
            <p:nvSpPr>
              <p:cNvPr name="Freeform 7" id="7"/>
              <p:cNvSpPr/>
              <p:nvPr/>
            </p:nvSpPr>
            <p:spPr>
              <a:xfrm flipH="false" flipV="false" rot="0">
                <a:off x="0" y="0"/>
                <a:ext cx="4507680" cy="404023"/>
              </a:xfrm>
              <a:custGeom>
                <a:avLst/>
                <a:gdLst/>
                <a:ahLst/>
                <a:cxnLst/>
                <a:rect r="r" b="b" t="t" l="l"/>
                <a:pathLst>
                  <a:path h="404023" w="4507680">
                    <a:moveTo>
                      <a:pt x="203200" y="0"/>
                    </a:moveTo>
                    <a:lnTo>
                      <a:pt x="4507680" y="0"/>
                    </a:lnTo>
                    <a:lnTo>
                      <a:pt x="4304480" y="404023"/>
                    </a:lnTo>
                    <a:lnTo>
                      <a:pt x="0" y="404023"/>
                    </a:lnTo>
                    <a:lnTo>
                      <a:pt x="203200" y="0"/>
                    </a:lnTo>
                    <a:close/>
                  </a:path>
                </a:pathLst>
              </a:custGeom>
              <a:solidFill>
                <a:srgbClr val="3D5871"/>
              </a:solidFill>
            </p:spPr>
          </p:sp>
          <p:sp>
            <p:nvSpPr>
              <p:cNvPr name="TextBox 8" id="8"/>
              <p:cNvSpPr txBox="true"/>
              <p:nvPr/>
            </p:nvSpPr>
            <p:spPr>
              <a:xfrm>
                <a:off x="101600" y="-38100"/>
                <a:ext cx="4304480" cy="44212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3945373" y="1037990"/>
            <a:ext cx="10397254" cy="1920240"/>
          </a:xfrm>
          <a:prstGeom prst="rect">
            <a:avLst/>
          </a:prstGeom>
        </p:spPr>
        <p:txBody>
          <a:bodyPr anchor="t" rtlCol="false" tIns="0" lIns="0" bIns="0" rIns="0">
            <a:spAutoFit/>
          </a:bodyPr>
          <a:lstStyle/>
          <a:p>
            <a:pPr algn="ctr">
              <a:lnSpc>
                <a:spcPts val="7080"/>
              </a:lnSpc>
            </a:pPr>
            <a:r>
              <a:rPr lang="en-US" sz="6000" b="true">
                <a:solidFill>
                  <a:srgbClr val="3D5871"/>
                </a:solidFill>
                <a:latin typeface="DIN Next Bold"/>
                <a:ea typeface="DIN Next Bold"/>
                <a:cs typeface="DIN Next Bold"/>
                <a:sym typeface="DIN Next Bold"/>
              </a:rPr>
              <a:t>KELEBIHAN</a:t>
            </a:r>
            <a:r>
              <a:rPr lang="en-US" b="true" sz="6000">
                <a:solidFill>
                  <a:srgbClr val="3D5871"/>
                </a:solidFill>
                <a:latin typeface="DIN Next Bold"/>
                <a:ea typeface="DIN Next Bold"/>
                <a:cs typeface="DIN Next Bold"/>
                <a:sym typeface="DIN Next Bold"/>
              </a:rPr>
              <a:t> &amp; HASIL YANG DIJANGKA</a:t>
            </a:r>
          </a:p>
        </p:txBody>
      </p:sp>
      <p:sp>
        <p:nvSpPr>
          <p:cNvPr name="TextBox 10" id="10"/>
          <p:cNvSpPr txBox="true"/>
          <p:nvPr/>
        </p:nvSpPr>
        <p:spPr>
          <a:xfrm rot="0">
            <a:off x="3569811" y="3310400"/>
            <a:ext cx="11148378" cy="2454783"/>
          </a:xfrm>
          <a:prstGeom prst="rect">
            <a:avLst/>
          </a:prstGeom>
        </p:spPr>
        <p:txBody>
          <a:bodyPr anchor="t" rtlCol="false" tIns="0" lIns="0" bIns="0" rIns="0">
            <a:spAutoFit/>
          </a:bodyPr>
          <a:lstStyle/>
          <a:p>
            <a:pPr algn="just">
              <a:lnSpc>
                <a:spcPts val="3186"/>
              </a:lnSpc>
            </a:pPr>
            <a:r>
              <a:rPr lang="en-US" sz="2700">
                <a:solidFill>
                  <a:srgbClr val="55676D"/>
                </a:solidFill>
                <a:latin typeface="DIN Next"/>
                <a:ea typeface="DIN Next"/>
                <a:cs typeface="DIN Next"/>
                <a:sym typeface="DIN Next"/>
              </a:rPr>
              <a:t>Kelebihan</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Memudahkan pemandu.</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Mengurangkan kawalan manual.</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Membantu meningkatkan</a:t>
            </a:r>
            <a:r>
              <a:rPr lang="en-US" sz="2700">
                <a:solidFill>
                  <a:srgbClr val="55676D"/>
                </a:solidFill>
                <a:latin typeface="DIN Next"/>
                <a:ea typeface="DIN Next"/>
                <a:cs typeface="DIN Next"/>
                <a:sym typeface="DIN Next"/>
              </a:rPr>
              <a:t> keselamatan.</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Sistem boleh dikawal menggunakan Arduino.</a:t>
            </a:r>
          </a:p>
          <a:p>
            <a:pPr algn="just" marL="582930" indent="-291465" lvl="1">
              <a:lnSpc>
                <a:spcPts val="3186"/>
              </a:lnSpc>
              <a:buFont typeface="Arial"/>
              <a:buChar char="•"/>
            </a:pPr>
            <a:r>
              <a:rPr lang="en-US" sz="2700">
                <a:solidFill>
                  <a:srgbClr val="55676D"/>
                </a:solidFill>
                <a:latin typeface="DIN Next"/>
                <a:ea typeface="DIN Next"/>
                <a:cs typeface="DIN Next"/>
                <a:sym typeface="DIN Next"/>
              </a:rPr>
              <a:t>Menggabungkan dua fungsi automotif dalam satu sistem</a:t>
            </a:r>
          </a:p>
        </p:txBody>
      </p:sp>
      <p:sp>
        <p:nvSpPr>
          <p:cNvPr name="TextBox 11" id="11"/>
          <p:cNvSpPr txBox="true"/>
          <p:nvPr/>
        </p:nvSpPr>
        <p:spPr>
          <a:xfrm rot="0">
            <a:off x="3618189" y="6414897"/>
            <a:ext cx="9890590" cy="1654683"/>
          </a:xfrm>
          <a:prstGeom prst="rect">
            <a:avLst/>
          </a:prstGeom>
        </p:spPr>
        <p:txBody>
          <a:bodyPr anchor="t" rtlCol="false" tIns="0" lIns="0" bIns="0" rIns="0">
            <a:spAutoFit/>
          </a:bodyPr>
          <a:lstStyle/>
          <a:p>
            <a:pPr algn="just">
              <a:lnSpc>
                <a:spcPts val="3186"/>
              </a:lnSpc>
            </a:pPr>
            <a:r>
              <a:rPr lang="en-US" sz="2700">
                <a:solidFill>
                  <a:srgbClr val="55676D"/>
                </a:solidFill>
                <a:latin typeface="DIN Next"/>
                <a:ea typeface="DIN Next"/>
                <a:cs typeface="DIN Next"/>
                <a:sym typeface="DIN Next"/>
              </a:rPr>
              <a:t>Hasil yang dijangka</a:t>
            </a:r>
          </a:p>
          <a:p>
            <a:pPr algn="just">
              <a:lnSpc>
                <a:spcPts val="3186"/>
              </a:lnSpc>
            </a:pPr>
            <a:r>
              <a:rPr lang="en-US" sz="2700">
                <a:solidFill>
                  <a:srgbClr val="55676D"/>
                </a:solidFill>
                <a:latin typeface="DIN Next"/>
                <a:ea typeface="DIN Next"/>
                <a:cs typeface="DIN Next"/>
                <a:sym typeface="DIN Next"/>
              </a:rPr>
              <a:t>Sistem dapat menghid</a:t>
            </a:r>
            <a:r>
              <a:rPr lang="en-US" sz="2700">
                <a:solidFill>
                  <a:srgbClr val="55676D"/>
                </a:solidFill>
                <a:latin typeface="DIN Next"/>
                <a:ea typeface="DIN Next"/>
                <a:cs typeface="DIN Next"/>
                <a:sym typeface="DIN Next"/>
              </a:rPr>
              <a:t>upkan lampu secara automatik berdasarkan keadaan cahaya dan menggerakkan wiper dengan baik apabila diperlukan.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0473" r="-31580" b="-19235"/>
            </a:stretch>
          </a:blipFill>
        </p:spPr>
      </p:sp>
      <p:sp>
        <p:nvSpPr>
          <p:cNvPr name="Freeform 3" id="3"/>
          <p:cNvSpPr/>
          <p:nvPr/>
        </p:nvSpPr>
        <p:spPr>
          <a:xfrm flipH="true" flipV="false" rot="0">
            <a:off x="13508779"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grpSp>
        <p:nvGrpSpPr>
          <p:cNvPr name="Group 4" id="4"/>
          <p:cNvGrpSpPr/>
          <p:nvPr/>
        </p:nvGrpSpPr>
        <p:grpSpPr>
          <a:xfrm rot="0">
            <a:off x="-72698" y="8069580"/>
            <a:ext cx="12382805" cy="2863000"/>
            <a:chOff x="0" y="0"/>
            <a:chExt cx="16510407" cy="3817333"/>
          </a:xfrm>
        </p:grpSpPr>
        <p:sp>
          <p:nvSpPr>
            <p:cNvPr name="Freeform 5" id="5"/>
            <p:cNvSpPr/>
            <p:nvPr/>
          </p:nvSpPr>
          <p:spPr>
            <a:xfrm flipH="true" flipV="false" rot="0">
              <a:off x="0" y="0"/>
              <a:ext cx="9753600" cy="3169920"/>
            </a:xfrm>
            <a:custGeom>
              <a:avLst/>
              <a:gdLst/>
              <a:ahLst/>
              <a:cxnLst/>
              <a:rect r="r" b="b" t="t" l="l"/>
              <a:pathLst>
                <a:path h="3169920" w="9753600">
                  <a:moveTo>
                    <a:pt x="9753600" y="0"/>
                  </a:moveTo>
                  <a:lnTo>
                    <a:pt x="0" y="0"/>
                  </a:lnTo>
                  <a:lnTo>
                    <a:pt x="0" y="3169920"/>
                  </a:lnTo>
                  <a:lnTo>
                    <a:pt x="9753600" y="3169920"/>
                  </a:lnTo>
                  <a:lnTo>
                    <a:pt x="975360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3909747" y="2687938"/>
              <a:ext cx="12600659" cy="1129395"/>
              <a:chOff x="0" y="0"/>
              <a:chExt cx="4507680" cy="404023"/>
            </a:xfrm>
          </p:grpSpPr>
          <p:sp>
            <p:nvSpPr>
              <p:cNvPr name="Freeform 7" id="7"/>
              <p:cNvSpPr/>
              <p:nvPr/>
            </p:nvSpPr>
            <p:spPr>
              <a:xfrm flipH="false" flipV="false" rot="0">
                <a:off x="0" y="0"/>
                <a:ext cx="4507680" cy="404023"/>
              </a:xfrm>
              <a:custGeom>
                <a:avLst/>
                <a:gdLst/>
                <a:ahLst/>
                <a:cxnLst/>
                <a:rect r="r" b="b" t="t" l="l"/>
                <a:pathLst>
                  <a:path h="404023" w="4507680">
                    <a:moveTo>
                      <a:pt x="203200" y="0"/>
                    </a:moveTo>
                    <a:lnTo>
                      <a:pt x="4507680" y="0"/>
                    </a:lnTo>
                    <a:lnTo>
                      <a:pt x="4304480" y="404023"/>
                    </a:lnTo>
                    <a:lnTo>
                      <a:pt x="0" y="404023"/>
                    </a:lnTo>
                    <a:lnTo>
                      <a:pt x="203200" y="0"/>
                    </a:lnTo>
                    <a:close/>
                  </a:path>
                </a:pathLst>
              </a:custGeom>
              <a:solidFill>
                <a:srgbClr val="3D5871"/>
              </a:solidFill>
            </p:spPr>
          </p:sp>
          <p:sp>
            <p:nvSpPr>
              <p:cNvPr name="TextBox 8" id="8"/>
              <p:cNvSpPr txBox="true"/>
              <p:nvPr/>
            </p:nvSpPr>
            <p:spPr>
              <a:xfrm>
                <a:off x="101600" y="-38100"/>
                <a:ext cx="4304480" cy="44212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10936513" y="6879374"/>
            <a:ext cx="2011137" cy="2955680"/>
          </a:xfrm>
          <a:custGeom>
            <a:avLst/>
            <a:gdLst/>
            <a:ahLst/>
            <a:cxnLst/>
            <a:rect r="r" b="b" t="t" l="l"/>
            <a:pathLst>
              <a:path h="2955680" w="2011137">
                <a:moveTo>
                  <a:pt x="0" y="0"/>
                </a:moveTo>
                <a:lnTo>
                  <a:pt x="2011137" y="0"/>
                </a:lnTo>
                <a:lnTo>
                  <a:pt x="2011137" y="2955680"/>
                </a:lnTo>
                <a:lnTo>
                  <a:pt x="0" y="2955680"/>
                </a:lnTo>
                <a:lnTo>
                  <a:pt x="0" y="0"/>
                </a:lnTo>
                <a:close/>
              </a:path>
            </a:pathLst>
          </a:custGeom>
          <a:blipFill>
            <a:blip r:embed="rId7"/>
            <a:stretch>
              <a:fillRect l="-113217" t="-13241" r="-103445" b="-7665"/>
            </a:stretch>
          </a:blipFill>
        </p:spPr>
      </p:sp>
      <p:sp>
        <p:nvSpPr>
          <p:cNvPr name="Freeform 10" id="10"/>
          <p:cNvSpPr/>
          <p:nvPr/>
        </p:nvSpPr>
        <p:spPr>
          <a:xfrm flipH="false" flipV="false" rot="0">
            <a:off x="6118704" y="6747129"/>
            <a:ext cx="3570695" cy="2753951"/>
          </a:xfrm>
          <a:custGeom>
            <a:avLst/>
            <a:gdLst/>
            <a:ahLst/>
            <a:cxnLst/>
            <a:rect r="r" b="b" t="t" l="l"/>
            <a:pathLst>
              <a:path h="2753951" w="3570695">
                <a:moveTo>
                  <a:pt x="0" y="0"/>
                </a:moveTo>
                <a:lnTo>
                  <a:pt x="3570695" y="0"/>
                </a:lnTo>
                <a:lnTo>
                  <a:pt x="3570695" y="2753951"/>
                </a:lnTo>
                <a:lnTo>
                  <a:pt x="0" y="2753951"/>
                </a:lnTo>
                <a:lnTo>
                  <a:pt x="0" y="0"/>
                </a:lnTo>
                <a:close/>
              </a:path>
            </a:pathLst>
          </a:custGeom>
          <a:blipFill>
            <a:blip r:embed="rId8"/>
            <a:stretch>
              <a:fillRect l="-6288" t="-22567" r="-4940" b="-21649"/>
            </a:stretch>
          </a:blipFill>
        </p:spPr>
      </p:sp>
      <p:sp>
        <p:nvSpPr>
          <p:cNvPr name="Freeform 11" id="11"/>
          <p:cNvSpPr/>
          <p:nvPr/>
        </p:nvSpPr>
        <p:spPr>
          <a:xfrm flipH="false" flipV="false" rot="0">
            <a:off x="2335151" y="6879374"/>
            <a:ext cx="2613748" cy="2511171"/>
          </a:xfrm>
          <a:custGeom>
            <a:avLst/>
            <a:gdLst/>
            <a:ahLst/>
            <a:cxnLst/>
            <a:rect r="r" b="b" t="t" l="l"/>
            <a:pathLst>
              <a:path h="2511171" w="2613748">
                <a:moveTo>
                  <a:pt x="0" y="0"/>
                </a:moveTo>
                <a:lnTo>
                  <a:pt x="2613748" y="0"/>
                </a:lnTo>
                <a:lnTo>
                  <a:pt x="2613748" y="2511171"/>
                </a:lnTo>
                <a:lnTo>
                  <a:pt x="0" y="2511171"/>
                </a:lnTo>
                <a:lnTo>
                  <a:pt x="0" y="0"/>
                </a:lnTo>
                <a:close/>
              </a:path>
            </a:pathLst>
          </a:custGeom>
          <a:blipFill>
            <a:blip r:embed="rId9"/>
            <a:stretch>
              <a:fillRect l="-20820" t="-24380" r="-21341" b="-23589"/>
            </a:stretch>
          </a:blipFill>
        </p:spPr>
      </p:sp>
      <p:sp>
        <p:nvSpPr>
          <p:cNvPr name="TextBox 12" id="12"/>
          <p:cNvSpPr txBox="true"/>
          <p:nvPr/>
        </p:nvSpPr>
        <p:spPr>
          <a:xfrm rot="0">
            <a:off x="4502321" y="767576"/>
            <a:ext cx="9283359" cy="1920240"/>
          </a:xfrm>
          <a:prstGeom prst="rect">
            <a:avLst/>
          </a:prstGeom>
        </p:spPr>
        <p:txBody>
          <a:bodyPr anchor="t" rtlCol="false" tIns="0" lIns="0" bIns="0" rIns="0">
            <a:spAutoFit/>
          </a:bodyPr>
          <a:lstStyle/>
          <a:p>
            <a:pPr algn="ctr">
              <a:lnSpc>
                <a:spcPts val="7080"/>
              </a:lnSpc>
            </a:pPr>
            <a:r>
              <a:rPr lang="en-US" sz="6000" b="true">
                <a:solidFill>
                  <a:srgbClr val="3D5871"/>
                </a:solidFill>
                <a:latin typeface="DIN Next Bold"/>
                <a:ea typeface="DIN Next Bold"/>
                <a:cs typeface="DIN Next Bold"/>
                <a:sym typeface="DIN Next Bold"/>
              </a:rPr>
              <a:t> KOMPONEN</a:t>
            </a:r>
            <a:r>
              <a:rPr lang="en-US" b="true" sz="6000">
                <a:solidFill>
                  <a:srgbClr val="3D5871"/>
                </a:solidFill>
                <a:latin typeface="DIN Next Bold"/>
                <a:ea typeface="DIN Next Bold"/>
                <a:cs typeface="DIN Next Bold"/>
                <a:sym typeface="DIN Next Bold"/>
              </a:rPr>
              <a:t> YANG DIGUNAKAN</a:t>
            </a:r>
          </a:p>
        </p:txBody>
      </p:sp>
      <p:sp>
        <p:nvSpPr>
          <p:cNvPr name="TextBox 13" id="13"/>
          <p:cNvSpPr txBox="true"/>
          <p:nvPr/>
        </p:nvSpPr>
        <p:spPr>
          <a:xfrm rot="0">
            <a:off x="4948899" y="3492246"/>
            <a:ext cx="8559879" cy="3254883"/>
          </a:xfrm>
          <a:prstGeom prst="rect">
            <a:avLst/>
          </a:prstGeom>
        </p:spPr>
        <p:txBody>
          <a:bodyPr anchor="t" rtlCol="false" tIns="0" lIns="0" bIns="0" rIns="0">
            <a:spAutoFit/>
          </a:bodyPr>
          <a:lstStyle/>
          <a:p>
            <a:pPr algn="just" marL="582932" indent="-291466" lvl="1">
              <a:lnSpc>
                <a:spcPts val="3186"/>
              </a:lnSpc>
              <a:buFont typeface="Arial"/>
              <a:buChar char="•"/>
            </a:pPr>
            <a:r>
              <a:rPr lang="en-US" sz="2700">
                <a:solidFill>
                  <a:srgbClr val="55676D"/>
                </a:solidFill>
                <a:latin typeface="DIN Next"/>
                <a:ea typeface="DIN Next"/>
                <a:cs typeface="DIN Next"/>
                <a:sym typeface="DIN Next"/>
              </a:rPr>
              <a:t>Arduino – pengawal utama sistem.</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LDR Sensor – mengesan</a:t>
            </a:r>
            <a:r>
              <a:rPr lang="en-US" sz="2700">
                <a:solidFill>
                  <a:srgbClr val="55676D"/>
                </a:solidFill>
                <a:latin typeface="DIN Next"/>
                <a:ea typeface="DIN Next"/>
                <a:cs typeface="DIN Next"/>
                <a:sym typeface="DIN Next"/>
              </a:rPr>
              <a:t> tahap cahaya.</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Headlamp &amp; LED DRL – pencahayaan kenderaan.</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Motor Wiper – menggerakkan wiper.</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Relay / Modul Kawalan – mengawal lampu dan motor.</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Buck Converter – menurunkan voltan.</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Bekalan 12V – sumber kuasa sistem.</a:t>
            </a:r>
          </a:p>
          <a:p>
            <a:pPr algn="just">
              <a:lnSpc>
                <a:spcPts val="318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8333" t="-23232" r="-2272" b="-36746"/>
            </a:stretch>
          </a:blipFill>
        </p:spPr>
      </p:sp>
      <p:sp>
        <p:nvSpPr>
          <p:cNvPr name="Freeform 3" id="3"/>
          <p:cNvSpPr/>
          <p:nvPr/>
        </p:nvSpPr>
        <p:spPr>
          <a:xfrm flipH="false" flipV="false" rot="0">
            <a:off x="1028700" y="615331"/>
            <a:ext cx="4114800" cy="826739"/>
          </a:xfrm>
          <a:custGeom>
            <a:avLst/>
            <a:gdLst/>
            <a:ahLst/>
            <a:cxnLst/>
            <a:rect r="r" b="b" t="t" l="l"/>
            <a:pathLst>
              <a:path h="826739" w="4114800">
                <a:moveTo>
                  <a:pt x="0" y="0"/>
                </a:moveTo>
                <a:lnTo>
                  <a:pt x="4114800" y="0"/>
                </a:lnTo>
                <a:lnTo>
                  <a:pt x="4114800" y="826738"/>
                </a:lnTo>
                <a:lnTo>
                  <a:pt x="0" y="826738"/>
                </a:lnTo>
                <a:lnTo>
                  <a:pt x="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sp>
        <p:nvSpPr>
          <p:cNvPr name="Freeform 4" id="4"/>
          <p:cNvSpPr/>
          <p:nvPr/>
        </p:nvSpPr>
        <p:spPr>
          <a:xfrm flipH="true" flipV="false" rot="0">
            <a:off x="5087313" y="6987788"/>
            <a:ext cx="13316219" cy="3578734"/>
          </a:xfrm>
          <a:custGeom>
            <a:avLst/>
            <a:gdLst/>
            <a:ahLst/>
            <a:cxnLst/>
            <a:rect r="r" b="b" t="t" l="l"/>
            <a:pathLst>
              <a:path h="3578734" w="13316219">
                <a:moveTo>
                  <a:pt x="13316219" y="0"/>
                </a:moveTo>
                <a:lnTo>
                  <a:pt x="0" y="0"/>
                </a:lnTo>
                <a:lnTo>
                  <a:pt x="0" y="3578734"/>
                </a:lnTo>
                <a:lnTo>
                  <a:pt x="13316219" y="3578734"/>
                </a:lnTo>
                <a:lnTo>
                  <a:pt x="13316219"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5" id="5"/>
          <p:cNvGrpSpPr/>
          <p:nvPr/>
        </p:nvGrpSpPr>
        <p:grpSpPr>
          <a:xfrm rot="0">
            <a:off x="4001106" y="10044900"/>
            <a:ext cx="1860164" cy="484200"/>
            <a:chOff x="0" y="0"/>
            <a:chExt cx="812800" cy="211572"/>
          </a:xfrm>
        </p:grpSpPr>
        <p:sp>
          <p:nvSpPr>
            <p:cNvPr name="Freeform 6" id="6"/>
            <p:cNvSpPr/>
            <p:nvPr/>
          </p:nvSpPr>
          <p:spPr>
            <a:xfrm flipH="false" flipV="false" rot="0">
              <a:off x="0" y="0"/>
              <a:ext cx="812800" cy="211572"/>
            </a:xfrm>
            <a:custGeom>
              <a:avLst/>
              <a:gdLst/>
              <a:ahLst/>
              <a:cxnLst/>
              <a:rect r="r" b="b" t="t" l="l"/>
              <a:pathLst>
                <a:path h="211572" w="812800">
                  <a:moveTo>
                    <a:pt x="203200" y="0"/>
                  </a:moveTo>
                  <a:lnTo>
                    <a:pt x="812800" y="0"/>
                  </a:lnTo>
                  <a:lnTo>
                    <a:pt x="609600" y="211572"/>
                  </a:lnTo>
                  <a:lnTo>
                    <a:pt x="0" y="211572"/>
                  </a:lnTo>
                  <a:lnTo>
                    <a:pt x="203200" y="0"/>
                  </a:lnTo>
                  <a:close/>
                </a:path>
              </a:pathLst>
            </a:custGeom>
            <a:solidFill>
              <a:srgbClr val="3D5871"/>
            </a:solidFill>
          </p:spPr>
        </p:sp>
        <p:sp>
          <p:nvSpPr>
            <p:cNvPr name="TextBox 7" id="7"/>
            <p:cNvSpPr txBox="true"/>
            <p:nvPr/>
          </p:nvSpPr>
          <p:spPr>
            <a:xfrm>
              <a:off x="101600" y="-38100"/>
              <a:ext cx="609600" cy="24967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001106" y="872474"/>
            <a:ext cx="9569672" cy="1024890"/>
          </a:xfrm>
          <a:prstGeom prst="rect">
            <a:avLst/>
          </a:prstGeom>
        </p:spPr>
        <p:txBody>
          <a:bodyPr anchor="t" rtlCol="false" tIns="0" lIns="0" bIns="0" rIns="0">
            <a:spAutoFit/>
          </a:bodyPr>
          <a:lstStyle/>
          <a:p>
            <a:pPr algn="ctr">
              <a:lnSpc>
                <a:spcPts val="7080"/>
              </a:lnSpc>
            </a:pPr>
            <a:r>
              <a:rPr lang="en-US" sz="6000" b="true">
                <a:solidFill>
                  <a:srgbClr val="3D5871"/>
                </a:solidFill>
                <a:latin typeface="DIN Next Bold"/>
                <a:ea typeface="DIN Next Bold"/>
                <a:cs typeface="DIN Next Bold"/>
                <a:sym typeface="DIN Next Bold"/>
              </a:rPr>
              <a:t> REKA</a:t>
            </a:r>
            <a:r>
              <a:rPr lang="en-US" b="true" sz="6000">
                <a:solidFill>
                  <a:srgbClr val="3D5871"/>
                </a:solidFill>
                <a:latin typeface="DIN Next Bold"/>
                <a:ea typeface="DIN Next Bold"/>
                <a:cs typeface="DIN Next Bold"/>
                <a:sym typeface="DIN Next Bold"/>
              </a:rPr>
              <a:t> BENTUK SISTEM</a:t>
            </a:r>
          </a:p>
        </p:txBody>
      </p:sp>
      <p:sp>
        <p:nvSpPr>
          <p:cNvPr name="TextBox 9" id="9"/>
          <p:cNvSpPr txBox="true"/>
          <p:nvPr/>
        </p:nvSpPr>
        <p:spPr>
          <a:xfrm rot="0">
            <a:off x="4590210" y="2912229"/>
            <a:ext cx="9519548" cy="2054733"/>
          </a:xfrm>
          <a:prstGeom prst="rect">
            <a:avLst/>
          </a:prstGeom>
        </p:spPr>
        <p:txBody>
          <a:bodyPr anchor="t" rtlCol="false" tIns="0" lIns="0" bIns="0" rIns="0">
            <a:spAutoFit/>
          </a:bodyPr>
          <a:lstStyle/>
          <a:p>
            <a:pPr algn="l">
              <a:lnSpc>
                <a:spcPts val="3186"/>
              </a:lnSpc>
            </a:pPr>
            <a:r>
              <a:rPr lang="en-US" sz="2700">
                <a:solidFill>
                  <a:srgbClr val="55676D"/>
                </a:solidFill>
                <a:latin typeface="DIN Next"/>
                <a:ea typeface="DIN Next"/>
                <a:cs typeface="DIN Next"/>
                <a:sym typeface="DIN Next"/>
              </a:rPr>
              <a:t>Bahagian Headlamp</a:t>
            </a:r>
          </a:p>
          <a:p>
            <a:pPr algn="l">
              <a:lnSpc>
                <a:spcPts val="3186"/>
              </a:lnSpc>
            </a:pPr>
            <a:r>
              <a:rPr lang="en-US" sz="2700">
                <a:solidFill>
                  <a:srgbClr val="55676D"/>
                </a:solidFill>
                <a:latin typeface="DIN Next"/>
                <a:ea typeface="DIN Next"/>
                <a:cs typeface="DIN Next"/>
                <a:sym typeface="DIN Next"/>
              </a:rPr>
              <a:t>LDR akan mengesan tahap cahaya di persekitaran dan menghantar bacaan kepada Arduino.</a:t>
            </a:r>
          </a:p>
          <a:p>
            <a:pPr algn="l">
              <a:lnSpc>
                <a:spcPts val="3186"/>
              </a:lnSpc>
            </a:pPr>
            <a:r>
              <a:rPr lang="en-US" sz="2700">
                <a:solidFill>
                  <a:srgbClr val="55676D"/>
                </a:solidFill>
                <a:latin typeface="DIN Next"/>
                <a:ea typeface="DIN Next"/>
                <a:cs typeface="DIN Next"/>
                <a:sym typeface="DIN Next"/>
              </a:rPr>
              <a:t>Arduino akan memproses bacaan terseb</a:t>
            </a:r>
            <a:r>
              <a:rPr lang="en-US" sz="2700">
                <a:solidFill>
                  <a:srgbClr val="55676D"/>
                </a:solidFill>
                <a:latin typeface="DIN Next"/>
                <a:ea typeface="DIN Next"/>
                <a:cs typeface="DIN Next"/>
                <a:sym typeface="DIN Next"/>
              </a:rPr>
              <a:t>ut dan menentukan sama ada lampu perlu dihidupkan atau dimatikan.</a:t>
            </a:r>
          </a:p>
        </p:txBody>
      </p:sp>
      <p:sp>
        <p:nvSpPr>
          <p:cNvPr name="TextBox 10" id="10"/>
          <p:cNvSpPr txBox="true"/>
          <p:nvPr/>
        </p:nvSpPr>
        <p:spPr>
          <a:xfrm rot="0">
            <a:off x="4590210" y="5986137"/>
            <a:ext cx="9519548" cy="1654683"/>
          </a:xfrm>
          <a:prstGeom prst="rect">
            <a:avLst/>
          </a:prstGeom>
        </p:spPr>
        <p:txBody>
          <a:bodyPr anchor="t" rtlCol="false" tIns="0" lIns="0" bIns="0" rIns="0">
            <a:spAutoFit/>
          </a:bodyPr>
          <a:lstStyle/>
          <a:p>
            <a:pPr algn="l">
              <a:lnSpc>
                <a:spcPts val="3186"/>
              </a:lnSpc>
            </a:pPr>
            <a:r>
              <a:rPr lang="en-US" sz="2700">
                <a:solidFill>
                  <a:srgbClr val="55676D"/>
                </a:solidFill>
                <a:latin typeface="DIN Next"/>
                <a:ea typeface="DIN Next"/>
                <a:cs typeface="DIN Next"/>
                <a:sym typeface="DIN Next"/>
              </a:rPr>
              <a:t>Bahagian Wiper</a:t>
            </a:r>
          </a:p>
          <a:p>
            <a:pPr algn="l">
              <a:lnSpc>
                <a:spcPts val="3186"/>
              </a:lnSpc>
            </a:pPr>
            <a:r>
              <a:rPr lang="en-US" sz="2700">
                <a:solidFill>
                  <a:srgbClr val="55676D"/>
                </a:solidFill>
                <a:latin typeface="DIN Next"/>
                <a:ea typeface="DIN Next"/>
                <a:cs typeface="DIN Next"/>
                <a:sym typeface="DIN Next"/>
              </a:rPr>
              <a:t>Sis</a:t>
            </a:r>
            <a:r>
              <a:rPr lang="en-US" sz="2700">
                <a:solidFill>
                  <a:srgbClr val="55676D"/>
                </a:solidFill>
                <a:latin typeface="DIN Next"/>
                <a:ea typeface="DIN Next"/>
                <a:cs typeface="DIN Next"/>
                <a:sym typeface="DIN Next"/>
              </a:rPr>
              <a:t>tem wiper menggunaka</a:t>
            </a:r>
            <a:r>
              <a:rPr lang="en-US" sz="2700">
                <a:solidFill>
                  <a:srgbClr val="55676D"/>
                </a:solidFill>
                <a:latin typeface="DIN Next"/>
                <a:ea typeface="DIN Next"/>
                <a:cs typeface="DIN Next"/>
                <a:sym typeface="DIN Next"/>
              </a:rPr>
              <a:t>n motor</a:t>
            </a:r>
            <a:r>
              <a:rPr lang="en-US" sz="2700">
                <a:solidFill>
                  <a:srgbClr val="55676D"/>
                </a:solidFill>
                <a:latin typeface="DIN Next"/>
                <a:ea typeface="DIN Next"/>
                <a:cs typeface="DIN Next"/>
                <a:sym typeface="DIN Next"/>
              </a:rPr>
              <a:t> untuk menggerakkan bilah wiper pada cermin hadapan</a:t>
            </a:r>
            <a:r>
              <a:rPr lang="en-US" sz="2700">
                <a:solidFill>
                  <a:srgbClr val="55676D"/>
                </a:solidFill>
                <a:latin typeface="DIN Next"/>
                <a:ea typeface="DIN Next"/>
                <a:cs typeface="DIN Next"/>
                <a:sym typeface="DIN Next"/>
              </a:rPr>
              <a:t> bagi membersihkan air.</a:t>
            </a:r>
          </a:p>
          <a:p>
            <a:pPr algn="l">
              <a:lnSpc>
                <a:spcPts val="318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231" t="-19061" r="-11075" b="-17820"/>
            </a:stretch>
          </a:blipFill>
        </p:spPr>
      </p:sp>
      <p:sp>
        <p:nvSpPr>
          <p:cNvPr name="Freeform 3" id="3"/>
          <p:cNvSpPr/>
          <p:nvPr/>
        </p:nvSpPr>
        <p:spPr>
          <a:xfrm flipH="true" flipV="false" rot="0">
            <a:off x="-350080" y="9092685"/>
            <a:ext cx="9961255" cy="1344769"/>
          </a:xfrm>
          <a:custGeom>
            <a:avLst/>
            <a:gdLst/>
            <a:ahLst/>
            <a:cxnLst/>
            <a:rect r="r" b="b" t="t" l="l"/>
            <a:pathLst>
              <a:path h="1344769" w="9961255">
                <a:moveTo>
                  <a:pt x="9961255" y="0"/>
                </a:moveTo>
                <a:lnTo>
                  <a:pt x="0" y="0"/>
                </a:lnTo>
                <a:lnTo>
                  <a:pt x="0" y="1344769"/>
                </a:lnTo>
                <a:lnTo>
                  <a:pt x="9961255" y="1344769"/>
                </a:lnTo>
                <a:lnTo>
                  <a:pt x="9961255"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459798"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5">
              <a:extLst>
                <a:ext uri="{96DAC541-7B7A-43D3-8B79-37D633B846F1}">
                  <asvg:svgBlip xmlns:asvg="http://schemas.microsoft.com/office/drawing/2016/SVG/main" r:embed="rId6"/>
                </a:ext>
              </a:extLst>
            </a:blip>
            <a:stretch>
              <a:fillRect l="0" t="-397714" r="0" b="0"/>
            </a:stretch>
          </a:blipFill>
        </p:spPr>
      </p:sp>
      <p:sp>
        <p:nvSpPr>
          <p:cNvPr name="Freeform 5" id="5"/>
          <p:cNvSpPr/>
          <p:nvPr/>
        </p:nvSpPr>
        <p:spPr>
          <a:xfrm flipH="false" flipV="false" rot="0">
            <a:off x="11740384" y="0"/>
            <a:ext cx="6547616" cy="4926106"/>
          </a:xfrm>
          <a:custGeom>
            <a:avLst/>
            <a:gdLst/>
            <a:ahLst/>
            <a:cxnLst/>
            <a:rect r="r" b="b" t="t" l="l"/>
            <a:pathLst>
              <a:path h="4926106" w="6547616">
                <a:moveTo>
                  <a:pt x="0" y="0"/>
                </a:moveTo>
                <a:lnTo>
                  <a:pt x="6547616" y="0"/>
                </a:lnTo>
                <a:lnTo>
                  <a:pt x="6547616" y="4926106"/>
                </a:lnTo>
                <a:lnTo>
                  <a:pt x="0" y="4926106"/>
                </a:lnTo>
                <a:lnTo>
                  <a:pt x="0" y="0"/>
                </a:lnTo>
                <a:close/>
              </a:path>
            </a:pathLst>
          </a:custGeom>
          <a:blipFill>
            <a:blip r:embed="rId7"/>
            <a:stretch>
              <a:fillRect l="0" t="0" r="0" b="0"/>
            </a:stretch>
          </a:blipFill>
        </p:spPr>
      </p:sp>
      <p:sp>
        <p:nvSpPr>
          <p:cNvPr name="Freeform 6" id="6"/>
          <p:cNvSpPr/>
          <p:nvPr/>
        </p:nvSpPr>
        <p:spPr>
          <a:xfrm flipH="false" flipV="false" rot="0">
            <a:off x="11740384" y="6685611"/>
            <a:ext cx="6431051" cy="3601389"/>
          </a:xfrm>
          <a:custGeom>
            <a:avLst/>
            <a:gdLst/>
            <a:ahLst/>
            <a:cxnLst/>
            <a:rect r="r" b="b" t="t" l="l"/>
            <a:pathLst>
              <a:path h="3601389" w="6431051">
                <a:moveTo>
                  <a:pt x="0" y="0"/>
                </a:moveTo>
                <a:lnTo>
                  <a:pt x="6431052" y="0"/>
                </a:lnTo>
                <a:lnTo>
                  <a:pt x="6431052" y="3601389"/>
                </a:lnTo>
                <a:lnTo>
                  <a:pt x="0" y="3601389"/>
                </a:lnTo>
                <a:lnTo>
                  <a:pt x="0" y="0"/>
                </a:lnTo>
                <a:close/>
              </a:path>
            </a:pathLst>
          </a:custGeom>
          <a:blipFill>
            <a:blip r:embed="rId8"/>
            <a:stretch>
              <a:fillRect l="0" t="0" r="0" b="0"/>
            </a:stretch>
          </a:blipFill>
        </p:spPr>
      </p:sp>
      <p:sp>
        <p:nvSpPr>
          <p:cNvPr name="TextBox 7" id="7"/>
          <p:cNvSpPr txBox="true"/>
          <p:nvPr/>
        </p:nvSpPr>
        <p:spPr>
          <a:xfrm rot="0">
            <a:off x="2062154" y="1574923"/>
            <a:ext cx="5136787" cy="1024890"/>
          </a:xfrm>
          <a:prstGeom prst="rect">
            <a:avLst/>
          </a:prstGeom>
        </p:spPr>
        <p:txBody>
          <a:bodyPr anchor="t" rtlCol="false" tIns="0" lIns="0" bIns="0" rIns="0">
            <a:spAutoFit/>
          </a:bodyPr>
          <a:lstStyle/>
          <a:p>
            <a:pPr algn="l">
              <a:lnSpc>
                <a:spcPts val="7079"/>
              </a:lnSpc>
            </a:pPr>
            <a:r>
              <a:rPr lang="en-US" sz="5999" b="true">
                <a:solidFill>
                  <a:srgbClr val="3D5871"/>
                </a:solidFill>
                <a:latin typeface="DIN Next Bold"/>
                <a:ea typeface="DIN Next Bold"/>
                <a:cs typeface="DIN Next Bold"/>
                <a:sym typeface="DIN Next Bold"/>
              </a:rPr>
              <a:t>LITAR SISTEM</a:t>
            </a:r>
          </a:p>
        </p:txBody>
      </p:sp>
      <p:sp>
        <p:nvSpPr>
          <p:cNvPr name="TextBox 8" id="8"/>
          <p:cNvSpPr txBox="true"/>
          <p:nvPr/>
        </p:nvSpPr>
        <p:spPr>
          <a:xfrm rot="0">
            <a:off x="1265727" y="2957962"/>
            <a:ext cx="11866429" cy="3098672"/>
          </a:xfrm>
          <a:prstGeom prst="rect">
            <a:avLst/>
          </a:prstGeom>
        </p:spPr>
        <p:txBody>
          <a:bodyPr anchor="t" rtlCol="false" tIns="0" lIns="0" bIns="0" rIns="0">
            <a:spAutoFit/>
          </a:bodyPr>
          <a:lstStyle/>
          <a:p>
            <a:pPr algn="l" marL="582932" indent="-291466" lvl="1">
              <a:lnSpc>
                <a:spcPts val="4941"/>
              </a:lnSpc>
              <a:buFont typeface="Arial"/>
              <a:buChar char="•"/>
            </a:pPr>
            <a:r>
              <a:rPr lang="en-US" sz="2700">
                <a:solidFill>
                  <a:srgbClr val="55676D"/>
                </a:solidFill>
                <a:latin typeface="DIN Next"/>
                <a:ea typeface="DIN Next"/>
                <a:cs typeface="DIN Next"/>
                <a:sym typeface="DIN Next"/>
              </a:rPr>
              <a:t>Aliran sistem:</a:t>
            </a:r>
          </a:p>
          <a:p>
            <a:pPr algn="l" marL="582932" indent="-291466" lvl="1">
              <a:lnSpc>
                <a:spcPts val="4941"/>
              </a:lnSpc>
              <a:buFont typeface="Arial"/>
              <a:buChar char="•"/>
            </a:pPr>
            <a:r>
              <a:rPr lang="en-US" sz="2700">
                <a:solidFill>
                  <a:srgbClr val="55676D"/>
                </a:solidFill>
                <a:latin typeface="DIN Next"/>
                <a:ea typeface="DIN Next"/>
                <a:cs typeface="DIN Next"/>
                <a:sym typeface="DIN Next"/>
              </a:rPr>
              <a:t>Bekalan 12V → Buck Converter → Arduino</a:t>
            </a:r>
          </a:p>
          <a:p>
            <a:pPr algn="l" marL="582932" indent="-291466" lvl="1">
              <a:lnSpc>
                <a:spcPts val="4941"/>
              </a:lnSpc>
              <a:buFont typeface="Arial"/>
              <a:buChar char="•"/>
            </a:pPr>
            <a:r>
              <a:rPr lang="en-US" sz="2700">
                <a:solidFill>
                  <a:srgbClr val="55676D"/>
                </a:solidFill>
                <a:latin typeface="DIN Next"/>
                <a:ea typeface="DIN Next"/>
                <a:cs typeface="DIN Next"/>
                <a:sym typeface="DIN Next"/>
              </a:rPr>
              <a:t>LDR → Arduino → Relay → Headlamp</a:t>
            </a:r>
          </a:p>
          <a:p>
            <a:pPr algn="l" marL="582932" indent="-291466" lvl="1">
              <a:lnSpc>
                <a:spcPts val="4941"/>
              </a:lnSpc>
              <a:buFont typeface="Arial"/>
              <a:buChar char="•"/>
            </a:pPr>
            <a:r>
              <a:rPr lang="en-US" sz="2700">
                <a:solidFill>
                  <a:srgbClr val="55676D"/>
                </a:solidFill>
                <a:latin typeface="DIN Next"/>
                <a:ea typeface="DIN Next"/>
                <a:cs typeface="DIN Next"/>
                <a:sym typeface="DIN Next"/>
              </a:rPr>
              <a:t>Arduino → Relay/Motor Driver → Motor Wiper</a:t>
            </a:r>
          </a:p>
          <a:p>
            <a:pPr algn="l" marL="582932" indent="-291466" lvl="1">
              <a:lnSpc>
                <a:spcPts val="4941"/>
              </a:lnSpc>
              <a:buFont typeface="Arial"/>
              <a:buChar char="•"/>
            </a:pPr>
            <a:r>
              <a:rPr lang="en-US" sz="2700">
                <a:solidFill>
                  <a:srgbClr val="55676D"/>
                </a:solidFill>
                <a:latin typeface="DIN Next"/>
                <a:ea typeface="DIN Next"/>
                <a:cs typeface="DIN Next"/>
                <a:sym typeface="DIN Next"/>
              </a:rPr>
              <a:t>LCD digunakan untuk memaparkan maklumat atau status sistem.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0473" r="-31580" b="-19235"/>
            </a:stretch>
          </a:blipFill>
        </p:spPr>
      </p:sp>
      <p:sp>
        <p:nvSpPr>
          <p:cNvPr name="Freeform 3" id="3"/>
          <p:cNvSpPr/>
          <p:nvPr/>
        </p:nvSpPr>
        <p:spPr>
          <a:xfrm flipH="true" flipV="false" rot="0">
            <a:off x="13508779"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grpSp>
        <p:nvGrpSpPr>
          <p:cNvPr name="Group 4" id="4"/>
          <p:cNvGrpSpPr/>
          <p:nvPr/>
        </p:nvGrpSpPr>
        <p:grpSpPr>
          <a:xfrm rot="0">
            <a:off x="-72698" y="7846914"/>
            <a:ext cx="12382805" cy="2863000"/>
            <a:chOff x="0" y="0"/>
            <a:chExt cx="16510407" cy="3817333"/>
          </a:xfrm>
        </p:grpSpPr>
        <p:sp>
          <p:nvSpPr>
            <p:cNvPr name="Freeform 5" id="5"/>
            <p:cNvSpPr/>
            <p:nvPr/>
          </p:nvSpPr>
          <p:spPr>
            <a:xfrm flipH="true" flipV="false" rot="0">
              <a:off x="0" y="0"/>
              <a:ext cx="9753600" cy="3169920"/>
            </a:xfrm>
            <a:custGeom>
              <a:avLst/>
              <a:gdLst/>
              <a:ahLst/>
              <a:cxnLst/>
              <a:rect r="r" b="b" t="t" l="l"/>
              <a:pathLst>
                <a:path h="3169920" w="9753600">
                  <a:moveTo>
                    <a:pt x="9753600" y="0"/>
                  </a:moveTo>
                  <a:lnTo>
                    <a:pt x="0" y="0"/>
                  </a:lnTo>
                  <a:lnTo>
                    <a:pt x="0" y="3169920"/>
                  </a:lnTo>
                  <a:lnTo>
                    <a:pt x="9753600" y="3169920"/>
                  </a:lnTo>
                  <a:lnTo>
                    <a:pt x="975360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3909747" y="2687938"/>
              <a:ext cx="12600659" cy="1129395"/>
              <a:chOff x="0" y="0"/>
              <a:chExt cx="4507680" cy="404023"/>
            </a:xfrm>
          </p:grpSpPr>
          <p:sp>
            <p:nvSpPr>
              <p:cNvPr name="Freeform 7" id="7"/>
              <p:cNvSpPr/>
              <p:nvPr/>
            </p:nvSpPr>
            <p:spPr>
              <a:xfrm flipH="false" flipV="false" rot="0">
                <a:off x="0" y="0"/>
                <a:ext cx="4507680" cy="404023"/>
              </a:xfrm>
              <a:custGeom>
                <a:avLst/>
                <a:gdLst/>
                <a:ahLst/>
                <a:cxnLst/>
                <a:rect r="r" b="b" t="t" l="l"/>
                <a:pathLst>
                  <a:path h="404023" w="4507680">
                    <a:moveTo>
                      <a:pt x="203200" y="0"/>
                    </a:moveTo>
                    <a:lnTo>
                      <a:pt x="4507680" y="0"/>
                    </a:lnTo>
                    <a:lnTo>
                      <a:pt x="4304480" y="404023"/>
                    </a:lnTo>
                    <a:lnTo>
                      <a:pt x="0" y="404023"/>
                    </a:lnTo>
                    <a:lnTo>
                      <a:pt x="203200" y="0"/>
                    </a:lnTo>
                    <a:close/>
                  </a:path>
                </a:pathLst>
              </a:custGeom>
              <a:solidFill>
                <a:srgbClr val="3D5871"/>
              </a:solidFill>
            </p:spPr>
          </p:sp>
          <p:sp>
            <p:nvSpPr>
              <p:cNvPr name="TextBox 8" id="8"/>
              <p:cNvSpPr txBox="true"/>
              <p:nvPr/>
            </p:nvSpPr>
            <p:spPr>
              <a:xfrm>
                <a:off x="101600" y="-38100"/>
                <a:ext cx="4304480" cy="442123"/>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12240380" y="6853301"/>
            <a:ext cx="6002634" cy="3367331"/>
          </a:xfrm>
          <a:custGeom>
            <a:avLst/>
            <a:gdLst/>
            <a:ahLst/>
            <a:cxnLst/>
            <a:rect r="r" b="b" t="t" l="l"/>
            <a:pathLst>
              <a:path h="3367331" w="6002634">
                <a:moveTo>
                  <a:pt x="0" y="0"/>
                </a:moveTo>
                <a:lnTo>
                  <a:pt x="6002634" y="0"/>
                </a:lnTo>
                <a:lnTo>
                  <a:pt x="6002634" y="3367331"/>
                </a:lnTo>
                <a:lnTo>
                  <a:pt x="0" y="3367331"/>
                </a:lnTo>
                <a:lnTo>
                  <a:pt x="0" y="0"/>
                </a:lnTo>
                <a:close/>
              </a:path>
            </a:pathLst>
          </a:custGeom>
          <a:blipFill>
            <a:blip r:embed="rId7"/>
            <a:stretch>
              <a:fillRect l="0" t="0" r="0" b="0"/>
            </a:stretch>
          </a:blipFill>
        </p:spPr>
      </p:sp>
      <p:sp>
        <p:nvSpPr>
          <p:cNvPr name="TextBox 10" id="10"/>
          <p:cNvSpPr txBox="true"/>
          <p:nvPr/>
        </p:nvSpPr>
        <p:spPr>
          <a:xfrm rot="0">
            <a:off x="5063381" y="914400"/>
            <a:ext cx="7246726" cy="1920240"/>
          </a:xfrm>
          <a:prstGeom prst="rect">
            <a:avLst/>
          </a:prstGeom>
        </p:spPr>
        <p:txBody>
          <a:bodyPr anchor="t" rtlCol="false" tIns="0" lIns="0" bIns="0" rIns="0">
            <a:spAutoFit/>
          </a:bodyPr>
          <a:lstStyle/>
          <a:p>
            <a:pPr algn="ctr">
              <a:lnSpc>
                <a:spcPts val="7079"/>
              </a:lnSpc>
            </a:pPr>
            <a:r>
              <a:rPr lang="en-US" sz="5999" b="true">
                <a:solidFill>
                  <a:srgbClr val="3D5871"/>
                </a:solidFill>
                <a:latin typeface="DIN Next Bold"/>
                <a:ea typeface="DIN Next Bold"/>
                <a:cs typeface="DIN Next Bold"/>
                <a:sym typeface="DIN Next Bold"/>
              </a:rPr>
              <a:t>KAEDAH / PROSES</a:t>
            </a:r>
            <a:r>
              <a:rPr lang="en-US" b="true" sz="5999">
                <a:solidFill>
                  <a:srgbClr val="3D5871"/>
                </a:solidFill>
                <a:latin typeface="DIN Next Bold"/>
                <a:ea typeface="DIN Next Bold"/>
                <a:cs typeface="DIN Next Bold"/>
                <a:sym typeface="DIN Next Bold"/>
              </a:rPr>
              <a:t> PEMBINAAN</a:t>
            </a:r>
          </a:p>
        </p:txBody>
      </p:sp>
      <p:sp>
        <p:nvSpPr>
          <p:cNvPr name="TextBox 11" id="11"/>
          <p:cNvSpPr txBox="true"/>
          <p:nvPr/>
        </p:nvSpPr>
        <p:spPr>
          <a:xfrm rot="0">
            <a:off x="3331976" y="3687156"/>
            <a:ext cx="11624048" cy="3254883"/>
          </a:xfrm>
          <a:prstGeom prst="rect">
            <a:avLst/>
          </a:prstGeom>
        </p:spPr>
        <p:txBody>
          <a:bodyPr anchor="t" rtlCol="false" tIns="0" lIns="0" bIns="0" rIns="0">
            <a:spAutoFit/>
          </a:bodyPr>
          <a:lstStyle/>
          <a:p>
            <a:pPr algn="just" marL="582932" indent="-291466" lvl="1">
              <a:lnSpc>
                <a:spcPts val="3186"/>
              </a:lnSpc>
              <a:buFont typeface="Arial"/>
              <a:buChar char="•"/>
            </a:pPr>
            <a:r>
              <a:rPr lang="en-US" sz="2700">
                <a:solidFill>
                  <a:srgbClr val="55676D"/>
                </a:solidFill>
                <a:latin typeface="DIN Next"/>
                <a:ea typeface="DIN Next"/>
                <a:cs typeface="DIN Next"/>
                <a:sym typeface="DIN Next"/>
              </a:rPr>
              <a:t>Menentukan konsep dan reka bentuk projek.</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Menyediakan semua komponen yang diperlukan.</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Membina litar Ard</a:t>
            </a:r>
            <a:r>
              <a:rPr lang="en-US" sz="2700">
                <a:solidFill>
                  <a:srgbClr val="55676D"/>
                </a:solidFill>
                <a:latin typeface="DIN Next"/>
                <a:ea typeface="DIN Next"/>
                <a:cs typeface="DIN Next"/>
                <a:sym typeface="DIN Next"/>
              </a:rPr>
              <a:t>uino.</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Menyambungkan LDR kepada Arduino.</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Menyambungkan lampu melalui relay.</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a:t>
            </a:r>
            <a:r>
              <a:rPr lang="en-US" sz="2700">
                <a:solidFill>
                  <a:srgbClr val="55676D"/>
                </a:solidFill>
                <a:latin typeface="DIN Next"/>
                <a:ea typeface="DIN Next"/>
                <a:cs typeface="DIN Next"/>
                <a:sym typeface="DIN Next"/>
              </a:rPr>
              <a:t>emasang motor untuk sistem wiper.</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Memprogramkan Arduino.</a:t>
            </a:r>
          </a:p>
          <a:p>
            <a:pPr algn="just" marL="582932" indent="-291466" lvl="1">
              <a:lnSpc>
                <a:spcPts val="3186"/>
              </a:lnSpc>
              <a:buFont typeface="Arial"/>
              <a:buChar char="•"/>
            </a:pPr>
            <a:r>
              <a:rPr lang="en-US" sz="2700">
                <a:solidFill>
                  <a:srgbClr val="55676D"/>
                </a:solidFill>
                <a:latin typeface="DIN Next"/>
                <a:ea typeface="DIN Next"/>
                <a:cs typeface="DIN Next"/>
                <a:sym typeface="DIN Next"/>
              </a:rPr>
              <a:t>M</a:t>
            </a:r>
            <a:r>
              <a:rPr lang="en-US" sz="2700">
                <a:solidFill>
                  <a:srgbClr val="55676D"/>
                </a:solidFill>
                <a:latin typeface="DIN Next"/>
                <a:ea typeface="DIN Next"/>
                <a:cs typeface="DIN Next"/>
                <a:sym typeface="DIN Next"/>
              </a:rPr>
              <a:t>enguji sistem dan membuat penambahbaikan.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0473" r="-31580" b="-19235"/>
            </a:stretch>
          </a:blipFill>
        </p:spPr>
      </p:sp>
      <p:sp>
        <p:nvSpPr>
          <p:cNvPr name="Freeform 3" id="3"/>
          <p:cNvSpPr/>
          <p:nvPr/>
        </p:nvSpPr>
        <p:spPr>
          <a:xfrm flipH="true" flipV="false" rot="0">
            <a:off x="13508779"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3">
              <a:extLst>
                <a:ext uri="{96DAC541-7B7A-43D3-8B79-37D633B846F1}">
                  <asvg:svgBlip xmlns:asvg="http://schemas.microsoft.com/office/drawing/2016/SVG/main" r:embed="rId4"/>
                </a:ext>
              </a:extLst>
            </a:blip>
            <a:stretch>
              <a:fillRect l="0" t="-397714" r="0" b="0"/>
            </a:stretch>
          </a:blipFill>
        </p:spPr>
      </p:sp>
      <p:grpSp>
        <p:nvGrpSpPr>
          <p:cNvPr name="Group 4" id="4"/>
          <p:cNvGrpSpPr/>
          <p:nvPr/>
        </p:nvGrpSpPr>
        <p:grpSpPr>
          <a:xfrm rot="0">
            <a:off x="-405791" y="9486900"/>
            <a:ext cx="12715897" cy="1445680"/>
            <a:chOff x="0" y="0"/>
            <a:chExt cx="16954530" cy="1927573"/>
          </a:xfrm>
        </p:grpSpPr>
        <p:sp>
          <p:nvSpPr>
            <p:cNvPr name="Freeform 5" id="5"/>
            <p:cNvSpPr/>
            <p:nvPr/>
          </p:nvSpPr>
          <p:spPr>
            <a:xfrm flipH="true" flipV="false" rot="0">
              <a:off x="0" y="0"/>
              <a:ext cx="9753600" cy="1219200"/>
            </a:xfrm>
            <a:custGeom>
              <a:avLst/>
              <a:gdLst/>
              <a:ahLst/>
              <a:cxnLst/>
              <a:rect r="r" b="b" t="t" l="l"/>
              <a:pathLst>
                <a:path h="1219200" w="9753600">
                  <a:moveTo>
                    <a:pt x="9753600" y="0"/>
                  </a:moveTo>
                  <a:lnTo>
                    <a:pt x="0" y="0"/>
                  </a:lnTo>
                  <a:lnTo>
                    <a:pt x="0" y="1219200"/>
                  </a:lnTo>
                  <a:lnTo>
                    <a:pt x="9753600" y="1219200"/>
                  </a:lnTo>
                  <a:lnTo>
                    <a:pt x="975360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6" id="6"/>
            <p:cNvGrpSpPr/>
            <p:nvPr/>
          </p:nvGrpSpPr>
          <p:grpSpPr>
            <a:xfrm rot="0">
              <a:off x="4353870" y="798178"/>
              <a:ext cx="12600659" cy="1129395"/>
              <a:chOff x="0" y="0"/>
              <a:chExt cx="4507680" cy="404023"/>
            </a:xfrm>
          </p:grpSpPr>
          <p:sp>
            <p:nvSpPr>
              <p:cNvPr name="Freeform 7" id="7"/>
              <p:cNvSpPr/>
              <p:nvPr/>
            </p:nvSpPr>
            <p:spPr>
              <a:xfrm flipH="false" flipV="false" rot="0">
                <a:off x="0" y="0"/>
                <a:ext cx="4507680" cy="404023"/>
              </a:xfrm>
              <a:custGeom>
                <a:avLst/>
                <a:gdLst/>
                <a:ahLst/>
                <a:cxnLst/>
                <a:rect r="r" b="b" t="t" l="l"/>
                <a:pathLst>
                  <a:path h="404023" w="4507680">
                    <a:moveTo>
                      <a:pt x="203200" y="0"/>
                    </a:moveTo>
                    <a:lnTo>
                      <a:pt x="4507680" y="0"/>
                    </a:lnTo>
                    <a:lnTo>
                      <a:pt x="4304480" y="404023"/>
                    </a:lnTo>
                    <a:lnTo>
                      <a:pt x="0" y="404023"/>
                    </a:lnTo>
                    <a:lnTo>
                      <a:pt x="203200" y="0"/>
                    </a:lnTo>
                    <a:close/>
                  </a:path>
                </a:pathLst>
              </a:custGeom>
              <a:solidFill>
                <a:srgbClr val="3D5871"/>
              </a:solidFill>
            </p:spPr>
          </p:sp>
          <p:sp>
            <p:nvSpPr>
              <p:cNvPr name="TextBox 8" id="8"/>
              <p:cNvSpPr txBox="true"/>
              <p:nvPr/>
            </p:nvSpPr>
            <p:spPr>
              <a:xfrm>
                <a:off x="101600" y="-38100"/>
                <a:ext cx="4304480" cy="442123"/>
              </a:xfrm>
              <a:prstGeom prst="rect">
                <a:avLst/>
              </a:prstGeom>
            </p:spPr>
            <p:txBody>
              <a:bodyPr anchor="ctr" rtlCol="false" tIns="50800" lIns="50800" bIns="50800" rIns="50800"/>
              <a:lstStyle/>
              <a:p>
                <a:pPr algn="ctr">
                  <a:lnSpc>
                    <a:spcPts val="2659"/>
                  </a:lnSpc>
                </a:pPr>
              </a:p>
            </p:txBody>
          </p:sp>
        </p:grpSp>
      </p:grpSp>
      <p:sp>
        <p:nvSpPr>
          <p:cNvPr name="TextBox 9" id="9"/>
          <p:cNvSpPr txBox="true"/>
          <p:nvPr/>
        </p:nvSpPr>
        <p:spPr>
          <a:xfrm rot="0">
            <a:off x="5164073" y="501031"/>
            <a:ext cx="7853967" cy="1920240"/>
          </a:xfrm>
          <a:prstGeom prst="rect">
            <a:avLst/>
          </a:prstGeom>
        </p:spPr>
        <p:txBody>
          <a:bodyPr anchor="t" rtlCol="false" tIns="0" lIns="0" bIns="0" rIns="0">
            <a:spAutoFit/>
          </a:bodyPr>
          <a:lstStyle/>
          <a:p>
            <a:pPr algn="ctr">
              <a:lnSpc>
                <a:spcPts val="7079"/>
              </a:lnSpc>
            </a:pPr>
            <a:r>
              <a:rPr lang="en-US" sz="5999" b="true">
                <a:solidFill>
                  <a:srgbClr val="3D5871"/>
                </a:solidFill>
                <a:latin typeface="DIN Next Bold"/>
                <a:ea typeface="DIN Next Bold"/>
                <a:cs typeface="DIN Next Bold"/>
                <a:sym typeface="DIN Next Bold"/>
              </a:rPr>
              <a:t>CARA SISTEM BERFU</a:t>
            </a:r>
            <a:r>
              <a:rPr lang="en-US" b="true" sz="5999">
                <a:solidFill>
                  <a:srgbClr val="3D5871"/>
                </a:solidFill>
                <a:latin typeface="DIN Next Bold"/>
                <a:ea typeface="DIN Next Bold"/>
                <a:cs typeface="DIN Next Bold"/>
                <a:sym typeface="DIN Next Bold"/>
              </a:rPr>
              <a:t>NGSI</a:t>
            </a:r>
          </a:p>
        </p:txBody>
      </p:sp>
      <p:sp>
        <p:nvSpPr>
          <p:cNvPr name="TextBox 10" id="10"/>
          <p:cNvSpPr txBox="true"/>
          <p:nvPr/>
        </p:nvSpPr>
        <p:spPr>
          <a:xfrm rot="0">
            <a:off x="3765014" y="2736976"/>
            <a:ext cx="10652085" cy="2054733"/>
          </a:xfrm>
          <a:prstGeom prst="rect">
            <a:avLst/>
          </a:prstGeom>
        </p:spPr>
        <p:txBody>
          <a:bodyPr anchor="t" rtlCol="false" tIns="0" lIns="0" bIns="0" rIns="0">
            <a:spAutoFit/>
          </a:bodyPr>
          <a:lstStyle/>
          <a:p>
            <a:pPr algn="l">
              <a:lnSpc>
                <a:spcPts val="3185"/>
              </a:lnSpc>
            </a:pPr>
            <a:r>
              <a:rPr lang="en-US" sz="2699" b="true">
                <a:solidFill>
                  <a:srgbClr val="55676D"/>
                </a:solidFill>
                <a:latin typeface="DIN Next Bold"/>
                <a:ea typeface="DIN Next Bold"/>
                <a:cs typeface="DIN Next Bold"/>
                <a:sym typeface="DIN Next Bold"/>
              </a:rPr>
              <a:t>Headlamp Automatik</a:t>
            </a:r>
          </a:p>
          <a:p>
            <a:pPr algn="l" marL="582928" indent="-291464" lvl="1">
              <a:lnSpc>
                <a:spcPts val="3185"/>
              </a:lnSpc>
              <a:buFont typeface="Arial"/>
              <a:buChar char="•"/>
            </a:pPr>
            <a:r>
              <a:rPr lang="en-US" b="true" sz="2699">
                <a:solidFill>
                  <a:srgbClr val="55676D"/>
                </a:solidFill>
                <a:latin typeface="DIN Next Bold"/>
                <a:ea typeface="DIN Next Bold"/>
                <a:cs typeface="DIN Next Bold"/>
                <a:sym typeface="DIN Next Bold"/>
              </a:rPr>
              <a:t>Apabila LDR m</a:t>
            </a:r>
            <a:r>
              <a:rPr lang="en-US" b="true" sz="2699">
                <a:solidFill>
                  <a:srgbClr val="55676D"/>
                </a:solidFill>
                <a:latin typeface="DIN Next Bold"/>
                <a:ea typeface="DIN Next Bold"/>
                <a:cs typeface="DIN Next Bold"/>
                <a:sym typeface="DIN Next Bold"/>
              </a:rPr>
              <a:t>engesan keada</a:t>
            </a:r>
            <a:r>
              <a:rPr lang="en-US" b="true" sz="2699">
                <a:solidFill>
                  <a:srgbClr val="55676D"/>
                </a:solidFill>
                <a:latin typeface="DIN Next Bold"/>
                <a:ea typeface="DIN Next Bold"/>
                <a:cs typeface="DIN Next Bold"/>
                <a:sym typeface="DIN Next Bold"/>
              </a:rPr>
              <a:t>an terang, lampu berada dalam keadaan tidak aktif.</a:t>
            </a:r>
          </a:p>
          <a:p>
            <a:pPr algn="l" marL="582928" indent="-291464" lvl="1">
              <a:lnSpc>
                <a:spcPts val="3185"/>
              </a:lnSpc>
              <a:buFont typeface="Arial"/>
              <a:buChar char="•"/>
            </a:pPr>
            <a:r>
              <a:rPr lang="en-US" b="true" sz="2699">
                <a:solidFill>
                  <a:srgbClr val="55676D"/>
                </a:solidFill>
                <a:latin typeface="DIN Next Bold"/>
                <a:ea typeface="DIN Next Bold"/>
                <a:cs typeface="DIN Next Bold"/>
                <a:sym typeface="DIN Next Bold"/>
              </a:rPr>
              <a:t>Apabila keadaan menjadi gelap, bacaan LDR berubah dan Arduino akan mengaktifkan relay untuk menyalakan lampu hadapan.</a:t>
            </a:r>
          </a:p>
        </p:txBody>
      </p:sp>
      <p:sp>
        <p:nvSpPr>
          <p:cNvPr name="TextBox 11" id="11"/>
          <p:cNvSpPr txBox="true"/>
          <p:nvPr/>
        </p:nvSpPr>
        <p:spPr>
          <a:xfrm rot="0">
            <a:off x="3765014" y="6086616"/>
            <a:ext cx="9358912" cy="2054733"/>
          </a:xfrm>
          <a:prstGeom prst="rect">
            <a:avLst/>
          </a:prstGeom>
        </p:spPr>
        <p:txBody>
          <a:bodyPr anchor="t" rtlCol="false" tIns="0" lIns="0" bIns="0" rIns="0">
            <a:spAutoFit/>
          </a:bodyPr>
          <a:lstStyle/>
          <a:p>
            <a:pPr algn="l">
              <a:lnSpc>
                <a:spcPts val="3185"/>
              </a:lnSpc>
            </a:pPr>
            <a:r>
              <a:rPr lang="en-US" sz="2699" b="true">
                <a:solidFill>
                  <a:srgbClr val="55676D"/>
                </a:solidFill>
                <a:latin typeface="DIN Next Bold"/>
                <a:ea typeface="DIN Next Bold"/>
                <a:cs typeface="DIN Next Bold"/>
                <a:sym typeface="DIN Next Bold"/>
              </a:rPr>
              <a:t>Wiper</a:t>
            </a:r>
          </a:p>
          <a:p>
            <a:pPr algn="l">
              <a:lnSpc>
                <a:spcPts val="3185"/>
              </a:lnSpc>
            </a:pPr>
            <a:r>
              <a:rPr lang="en-US" sz="2699" b="true">
                <a:solidFill>
                  <a:srgbClr val="55676D"/>
                </a:solidFill>
                <a:latin typeface="DIN Next Bold"/>
                <a:ea typeface="DIN Next Bold"/>
                <a:cs typeface="DIN Next Bold"/>
                <a:sym typeface="DIN Next Bold"/>
              </a:rPr>
              <a:t>Apabila sistem m</a:t>
            </a:r>
            <a:r>
              <a:rPr lang="en-US" sz="2699" b="true">
                <a:solidFill>
                  <a:srgbClr val="55676D"/>
                </a:solidFill>
                <a:latin typeface="DIN Next Bold"/>
                <a:ea typeface="DIN Next Bold"/>
                <a:cs typeface="DIN Next Bold"/>
                <a:sym typeface="DIN Next Bold"/>
              </a:rPr>
              <a:t>engesan keada</a:t>
            </a:r>
            <a:r>
              <a:rPr lang="en-US" sz="2699" b="true">
                <a:solidFill>
                  <a:srgbClr val="55676D"/>
                </a:solidFill>
                <a:latin typeface="DIN Next Bold"/>
                <a:ea typeface="DIN Next Bold"/>
                <a:cs typeface="DIN Next Bold"/>
                <a:sym typeface="DIN Next Bold"/>
              </a:rPr>
              <a:t>an yang memerlukan wiper, Arduino akan mengaktifkan motor wiper. Motor akan menggerakkan wiper untuk membersihkan permukaan cermin.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231" t="-19061" r="-11075" b="-17820"/>
            </a:stretch>
          </a:blipFill>
        </p:spPr>
      </p:sp>
      <p:sp>
        <p:nvSpPr>
          <p:cNvPr name="Freeform 3" id="3"/>
          <p:cNvSpPr/>
          <p:nvPr/>
        </p:nvSpPr>
        <p:spPr>
          <a:xfrm flipH="true" flipV="false" rot="0">
            <a:off x="-350080" y="9092685"/>
            <a:ext cx="9961255" cy="1344769"/>
          </a:xfrm>
          <a:custGeom>
            <a:avLst/>
            <a:gdLst/>
            <a:ahLst/>
            <a:cxnLst/>
            <a:rect r="r" b="b" t="t" l="l"/>
            <a:pathLst>
              <a:path h="1344769" w="9961255">
                <a:moveTo>
                  <a:pt x="9961255" y="0"/>
                </a:moveTo>
                <a:lnTo>
                  <a:pt x="0" y="0"/>
                </a:lnTo>
                <a:lnTo>
                  <a:pt x="0" y="1344769"/>
                </a:lnTo>
                <a:lnTo>
                  <a:pt x="9961255" y="1344769"/>
                </a:lnTo>
                <a:lnTo>
                  <a:pt x="9961255"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459798" y="615331"/>
            <a:ext cx="4114800" cy="826739"/>
          </a:xfrm>
          <a:custGeom>
            <a:avLst/>
            <a:gdLst/>
            <a:ahLst/>
            <a:cxnLst/>
            <a:rect r="r" b="b" t="t" l="l"/>
            <a:pathLst>
              <a:path h="826739" w="4114800">
                <a:moveTo>
                  <a:pt x="4114800" y="0"/>
                </a:moveTo>
                <a:lnTo>
                  <a:pt x="0" y="0"/>
                </a:lnTo>
                <a:lnTo>
                  <a:pt x="0" y="826738"/>
                </a:lnTo>
                <a:lnTo>
                  <a:pt x="4114800" y="826738"/>
                </a:lnTo>
                <a:lnTo>
                  <a:pt x="4114800" y="0"/>
                </a:lnTo>
                <a:close/>
              </a:path>
            </a:pathLst>
          </a:custGeom>
          <a:blipFill>
            <a:blip r:embed="rId5">
              <a:extLst>
                <a:ext uri="{96DAC541-7B7A-43D3-8B79-37D633B846F1}">
                  <asvg:svgBlip xmlns:asvg="http://schemas.microsoft.com/office/drawing/2016/SVG/main" r:embed="rId6"/>
                </a:ext>
              </a:extLst>
            </a:blip>
            <a:stretch>
              <a:fillRect l="0" t="-397714" r="0" b="0"/>
            </a:stretch>
          </a:blipFill>
        </p:spPr>
      </p:sp>
      <p:sp>
        <p:nvSpPr>
          <p:cNvPr name="TextBox 5" id="5"/>
          <p:cNvSpPr txBox="true"/>
          <p:nvPr/>
        </p:nvSpPr>
        <p:spPr>
          <a:xfrm rot="0">
            <a:off x="3792963" y="747254"/>
            <a:ext cx="11441754" cy="1024890"/>
          </a:xfrm>
          <a:prstGeom prst="rect">
            <a:avLst/>
          </a:prstGeom>
        </p:spPr>
        <p:txBody>
          <a:bodyPr anchor="t" rtlCol="false" tIns="0" lIns="0" bIns="0" rIns="0">
            <a:spAutoFit/>
          </a:bodyPr>
          <a:lstStyle/>
          <a:p>
            <a:pPr algn="l">
              <a:lnSpc>
                <a:spcPts val="7080"/>
              </a:lnSpc>
            </a:pPr>
            <a:r>
              <a:rPr lang="en-US" sz="6000" b="true">
                <a:solidFill>
                  <a:srgbClr val="3D5871"/>
                </a:solidFill>
                <a:latin typeface="DIN Next Bold"/>
                <a:ea typeface="DIN Next Bold"/>
                <a:cs typeface="DIN Next Bold"/>
                <a:sym typeface="DIN Next Bold"/>
              </a:rPr>
              <a:t>KESIMPULAN</a:t>
            </a:r>
          </a:p>
        </p:txBody>
      </p:sp>
      <p:sp>
        <p:nvSpPr>
          <p:cNvPr name="TextBox 6" id="6"/>
          <p:cNvSpPr txBox="true"/>
          <p:nvPr/>
        </p:nvSpPr>
        <p:spPr>
          <a:xfrm rot="0">
            <a:off x="1028700" y="2164836"/>
            <a:ext cx="10661929" cy="6708714"/>
          </a:xfrm>
          <a:prstGeom prst="rect">
            <a:avLst/>
          </a:prstGeom>
        </p:spPr>
        <p:txBody>
          <a:bodyPr anchor="t" rtlCol="false" tIns="0" lIns="0" bIns="0" rIns="0">
            <a:spAutoFit/>
          </a:bodyPr>
          <a:lstStyle/>
          <a:p>
            <a:pPr algn="l">
              <a:lnSpc>
                <a:spcPts val="5373"/>
              </a:lnSpc>
            </a:pPr>
            <a:r>
              <a:rPr lang="en-US" sz="2936">
                <a:solidFill>
                  <a:srgbClr val="55676D"/>
                </a:solidFill>
                <a:latin typeface="DIN Next"/>
                <a:ea typeface="DIN Next"/>
                <a:cs typeface="DIN Next"/>
                <a:sym typeface="DIN Next"/>
              </a:rPr>
              <a:t>Kesimpulannya, projek Automatic Headlamp System and Wiper Using Arduino dapat menghasilkan satu sistem automotif yang lebih mudah dan praktikal. Penggunaan Arduino dan sensor LDR membolehkan lampu hadapan dikawal secara automatik berdasarkan keadaan persekitaran. Sistem wiper pula membantu membersihkan cermin hadapan ketika diperlukan. Projek ini diharapkan dapat dikembangkan lagi pada masa akan datang supaya lebih lengkap dan sesuai digunakan pada kenderaan sebenar.</a:t>
            </a:r>
          </a:p>
          <a:p>
            <a:pPr algn="l">
              <a:lnSpc>
                <a:spcPts val="4941"/>
              </a:lnSpc>
            </a:pPr>
            <a:r>
              <a:rPr lang="en-US" sz="2700">
                <a:solidFill>
                  <a:srgbClr val="55676D"/>
                </a:solidFill>
                <a:latin typeface="DIN Next"/>
                <a:ea typeface="DIN Next"/>
                <a:cs typeface="DIN Next"/>
                <a:sym typeface="DIN Next"/>
              </a:rPr>
              <a:t>SEKIAN, 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DAHUDHd1D3I</dc:identifier>
  <dcterms:modified xsi:type="dcterms:W3CDTF">2011-08-01T06:04:30Z</dcterms:modified>
  <cp:revision>1</cp:revision>
  <dc:title>Blue and White Simple Elegant Project Presentation</dc:title>
</cp:coreProperties>
</file>